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" charset="1" panose="00000500000000000000"/>
      <p:regular r:id="rId21"/>
    </p:embeddedFont>
    <p:embeddedFont>
      <p:font typeface="DM Sans Bold" charset="1" panose="00000000000000000000"/>
      <p:regular r:id="rId22"/>
    </p:embeddedFont>
    <p:embeddedFont>
      <p:font typeface="Arial Bold" charset="1" panose="020B0704020202020204"/>
      <p:regular r:id="rId23"/>
    </p:embeddedFont>
    <p:embeddedFont>
      <p:font typeface="Roboto" charset="1" panose="02000000000000000000"/>
      <p:regular r:id="rId24"/>
    </p:embeddedFont>
    <p:embeddedFont>
      <p:font typeface="Roboto Bold" charset="1" panose="02000000000000000000"/>
      <p:regular r:id="rId25"/>
    </p:embeddedFont>
    <p:embeddedFont>
      <p:font typeface="Poppins Bold" charset="1" panose="00000800000000000000"/>
      <p:regular r:id="rId26"/>
    </p:embeddedFont>
    <p:embeddedFont>
      <p:font typeface="Arial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7.jpe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2" Target="../media/image9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0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jpe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7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7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7.jpe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4114800"/>
            <a:chOff x="0" y="0"/>
            <a:chExt cx="2514545" cy="637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4545" cy="637490"/>
            </a:xfrm>
            <a:custGeom>
              <a:avLst/>
              <a:gdLst/>
              <a:ahLst/>
              <a:cxnLst/>
              <a:rect r="r" b="b" t="t" l="l"/>
              <a:pathLst>
                <a:path h="637490" w="2514545">
                  <a:moveTo>
                    <a:pt x="10971" y="0"/>
                  </a:moveTo>
                  <a:lnTo>
                    <a:pt x="2503574" y="0"/>
                  </a:lnTo>
                  <a:cubicBezTo>
                    <a:pt x="2509633" y="0"/>
                    <a:pt x="2514545" y="4912"/>
                    <a:pt x="2514545" y="10971"/>
                  </a:cubicBezTo>
                  <a:lnTo>
                    <a:pt x="2514545" y="626519"/>
                  </a:lnTo>
                  <a:cubicBezTo>
                    <a:pt x="2514545" y="632578"/>
                    <a:pt x="2509633" y="637490"/>
                    <a:pt x="2503574" y="637490"/>
                  </a:cubicBezTo>
                  <a:lnTo>
                    <a:pt x="10971" y="637490"/>
                  </a:lnTo>
                  <a:cubicBezTo>
                    <a:pt x="4912" y="637490"/>
                    <a:pt x="0" y="632578"/>
                    <a:pt x="0" y="626519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5129" r="0" b="-4766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16383" y="7849696"/>
            <a:ext cx="2073887" cy="655939"/>
            <a:chOff x="0" y="0"/>
            <a:chExt cx="542308" cy="1715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2308" cy="171524"/>
            </a:xfrm>
            <a:custGeom>
              <a:avLst/>
              <a:gdLst/>
              <a:ahLst/>
              <a:cxnLst/>
              <a:rect r="r" b="b" t="t" l="l"/>
              <a:pathLst>
                <a:path h="171524" w="542308">
                  <a:moveTo>
                    <a:pt x="85762" y="0"/>
                  </a:moveTo>
                  <a:lnTo>
                    <a:pt x="456546" y="0"/>
                  </a:lnTo>
                  <a:cubicBezTo>
                    <a:pt x="479291" y="0"/>
                    <a:pt x="501105" y="9036"/>
                    <a:pt x="517189" y="25119"/>
                  </a:cubicBezTo>
                  <a:cubicBezTo>
                    <a:pt x="533272" y="41203"/>
                    <a:pt x="542308" y="63016"/>
                    <a:pt x="542308" y="85762"/>
                  </a:cubicBezTo>
                  <a:lnTo>
                    <a:pt x="542308" y="85762"/>
                  </a:lnTo>
                  <a:cubicBezTo>
                    <a:pt x="542308" y="133127"/>
                    <a:pt x="503911" y="171524"/>
                    <a:pt x="456546" y="171524"/>
                  </a:cubicBezTo>
                  <a:lnTo>
                    <a:pt x="85762" y="171524"/>
                  </a:lnTo>
                  <a:cubicBezTo>
                    <a:pt x="38397" y="171524"/>
                    <a:pt x="0" y="133127"/>
                    <a:pt x="0" y="85762"/>
                  </a:cubicBezTo>
                  <a:lnTo>
                    <a:pt x="0" y="85762"/>
                  </a:lnTo>
                  <a:cubicBezTo>
                    <a:pt x="0" y="38397"/>
                    <a:pt x="38397" y="0"/>
                    <a:pt x="85762" y="0"/>
                  </a:cubicBezTo>
                  <a:close/>
                </a:path>
              </a:pathLst>
            </a:custGeom>
            <a:ln w="38100" cap="rnd">
              <a:solidFill>
                <a:srgbClr val="FFFBF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42308" cy="228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10254" y="8015486"/>
            <a:ext cx="686145" cy="324360"/>
          </a:xfrm>
          <a:custGeom>
            <a:avLst/>
            <a:gdLst/>
            <a:ahLst/>
            <a:cxnLst/>
            <a:rect r="r" b="b" t="t" l="l"/>
            <a:pathLst>
              <a:path h="324360" w="686145">
                <a:moveTo>
                  <a:pt x="0" y="0"/>
                </a:moveTo>
                <a:lnTo>
                  <a:pt x="686145" y="0"/>
                </a:lnTo>
                <a:lnTo>
                  <a:pt x="686145" y="324360"/>
                </a:lnTo>
                <a:lnTo>
                  <a:pt x="0" y="324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4186" y="7877628"/>
            <a:ext cx="478938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86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Pitch Deck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4634355" y="8196716"/>
            <a:ext cx="283842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355536" y="3691618"/>
            <a:ext cx="2903764" cy="2903764"/>
          </a:xfrm>
          <a:custGeom>
            <a:avLst/>
            <a:gdLst/>
            <a:ahLst/>
            <a:cxnLst/>
            <a:rect r="r" b="b" t="t" l="l"/>
            <a:pathLst>
              <a:path h="2903764" w="2903764">
                <a:moveTo>
                  <a:pt x="0" y="0"/>
                </a:moveTo>
                <a:lnTo>
                  <a:pt x="2903764" y="0"/>
                </a:lnTo>
                <a:lnTo>
                  <a:pt x="2903764" y="2903764"/>
                </a:lnTo>
                <a:lnTo>
                  <a:pt x="0" y="2903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5368406"/>
            <a:ext cx="11591844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AiversePulse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31161" y="7877628"/>
            <a:ext cx="36938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86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NoBugPls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754380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36" t="0" r="-303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23644" y="717804"/>
            <a:ext cx="3657600" cy="621841"/>
            <a:chOff x="0" y="0"/>
            <a:chExt cx="4876800" cy="8291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1769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492366"/>
            <a:ext cx="686145" cy="324360"/>
          </a:xfrm>
          <a:custGeom>
            <a:avLst/>
            <a:gdLst/>
            <a:ahLst/>
            <a:cxnLst/>
            <a:rect r="r" b="b" t="t" l="l"/>
            <a:pathLst>
              <a:path h="324360" w="686145">
                <a:moveTo>
                  <a:pt x="0" y="0"/>
                </a:moveTo>
                <a:lnTo>
                  <a:pt x="686145" y="0"/>
                </a:lnTo>
                <a:lnTo>
                  <a:pt x="686145" y="324360"/>
                </a:lnTo>
                <a:lnTo>
                  <a:pt x="0" y="32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54380"/>
            <a:ext cx="548640" cy="548640"/>
            <a:chOff x="0" y="0"/>
            <a:chExt cx="73152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36" t="0" r="-30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3644" y="717804"/>
            <a:ext cx="3657600" cy="621841"/>
            <a:chOff x="0" y="0"/>
            <a:chExt cx="4876800" cy="829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822540" y="1922269"/>
            <a:ext cx="6436760" cy="6816852"/>
          </a:xfrm>
          <a:custGeom>
            <a:avLst/>
            <a:gdLst/>
            <a:ahLst/>
            <a:cxnLst/>
            <a:rect r="r" b="b" t="t" l="l"/>
            <a:pathLst>
              <a:path h="6816852" w="6436760">
                <a:moveTo>
                  <a:pt x="0" y="0"/>
                </a:moveTo>
                <a:lnTo>
                  <a:pt x="6436760" y="0"/>
                </a:lnTo>
                <a:lnTo>
                  <a:pt x="6436760" y="6816852"/>
                </a:lnTo>
                <a:lnTo>
                  <a:pt x="0" y="6816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176" t="0" r="-12697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553930"/>
            <a:ext cx="9936428" cy="50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sz="88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AI is changing work.</a:t>
            </a:r>
          </a:p>
          <a:p>
            <a:pPr algn="l">
              <a:lnSpc>
                <a:spcPts val="7304"/>
              </a:lnSpc>
            </a:pPr>
            <a:r>
              <a:rPr lang="en-US" sz="88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sz="88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our next move should be clearer</a:t>
            </a:r>
          </a:p>
          <a:p>
            <a:pPr algn="l">
              <a:lnSpc>
                <a:spcPts val="123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19751"/>
            <a:ext cx="7323364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AiversePulse connects</a:t>
            </a: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 people, skills and opportunities with AI-powered insights for a future-ready workforce.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49217"/>
            <a:ext cx="3591563" cy="6609083"/>
            <a:chOff x="0" y="0"/>
            <a:chExt cx="4788751" cy="8812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88789" cy="8812149"/>
            </a:xfrm>
            <a:custGeom>
              <a:avLst/>
              <a:gdLst/>
              <a:ahLst/>
              <a:cxnLst/>
              <a:rect r="r" b="b" t="t" l="l"/>
              <a:pathLst>
                <a:path h="8812149" w="478878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4592320" y="0"/>
                  </a:lnTo>
                  <a:cubicBezTo>
                    <a:pt x="4700778" y="0"/>
                    <a:pt x="4788789" y="88011"/>
                    <a:pt x="4788789" y="196469"/>
                  </a:cubicBezTo>
                  <a:lnTo>
                    <a:pt x="4788789" y="8615680"/>
                  </a:lnTo>
                  <a:cubicBezTo>
                    <a:pt x="4788789" y="8724138"/>
                    <a:pt x="4700778" y="8812149"/>
                    <a:pt x="4592320" y="8812149"/>
                  </a:cubicBezTo>
                  <a:lnTo>
                    <a:pt x="196469" y="8812149"/>
                  </a:lnTo>
                  <a:cubicBezTo>
                    <a:pt x="88011" y="8812149"/>
                    <a:pt x="0" y="8724138"/>
                    <a:pt x="0" y="8615680"/>
                  </a:cubicBezTo>
                  <a:close/>
                </a:path>
              </a:pathLst>
            </a:custGeom>
            <a:solidFill>
              <a:srgbClr val="0C2250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305679" y="3011795"/>
            <a:ext cx="1037587" cy="1037587"/>
            <a:chOff x="0" y="0"/>
            <a:chExt cx="1383449" cy="1383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3538" cy="1383538"/>
            </a:xfrm>
            <a:custGeom>
              <a:avLst/>
              <a:gdLst/>
              <a:ahLst/>
              <a:cxnLst/>
              <a:rect r="r" b="b" t="t" l="l"/>
              <a:pathLst>
                <a:path h="1383538" w="1383538">
                  <a:moveTo>
                    <a:pt x="0" y="691769"/>
                  </a:moveTo>
                  <a:cubicBezTo>
                    <a:pt x="0" y="309753"/>
                    <a:pt x="309753" y="0"/>
                    <a:pt x="691769" y="0"/>
                  </a:cubicBezTo>
                  <a:cubicBezTo>
                    <a:pt x="1073785" y="0"/>
                    <a:pt x="1383538" y="309753"/>
                    <a:pt x="1383538" y="691769"/>
                  </a:cubicBezTo>
                  <a:cubicBezTo>
                    <a:pt x="1383538" y="1073785"/>
                    <a:pt x="1073785" y="1383538"/>
                    <a:pt x="691769" y="1383538"/>
                  </a:cubicBezTo>
                  <a:cubicBezTo>
                    <a:pt x="309753" y="1383538"/>
                    <a:pt x="0" y="1073785"/>
                    <a:pt x="0" y="69176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593134" y="3299250"/>
            <a:ext cx="462686" cy="462686"/>
            <a:chOff x="0" y="0"/>
            <a:chExt cx="616915" cy="616915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8" b="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777740" y="2649217"/>
            <a:ext cx="3591563" cy="6609083"/>
            <a:chOff x="0" y="0"/>
            <a:chExt cx="4788751" cy="8812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88789" cy="8812149"/>
            </a:xfrm>
            <a:custGeom>
              <a:avLst/>
              <a:gdLst/>
              <a:ahLst/>
              <a:cxnLst/>
              <a:rect r="r" b="b" t="t" l="l"/>
              <a:pathLst>
                <a:path h="8812149" w="478878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4592320" y="0"/>
                  </a:lnTo>
                  <a:cubicBezTo>
                    <a:pt x="4700778" y="0"/>
                    <a:pt x="4788789" y="88011"/>
                    <a:pt x="4788789" y="196469"/>
                  </a:cubicBezTo>
                  <a:lnTo>
                    <a:pt x="4788789" y="8615680"/>
                  </a:lnTo>
                  <a:cubicBezTo>
                    <a:pt x="4788789" y="8724138"/>
                    <a:pt x="4700778" y="8812149"/>
                    <a:pt x="4592320" y="8812149"/>
                  </a:cubicBezTo>
                  <a:lnTo>
                    <a:pt x="196469" y="8812149"/>
                  </a:lnTo>
                  <a:cubicBezTo>
                    <a:pt x="88011" y="8812149"/>
                    <a:pt x="0" y="8724138"/>
                    <a:pt x="0" y="8615680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54719" y="3011795"/>
            <a:ext cx="1037587" cy="1037587"/>
            <a:chOff x="0" y="0"/>
            <a:chExt cx="1383449" cy="13834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3538" cy="1383538"/>
            </a:xfrm>
            <a:custGeom>
              <a:avLst/>
              <a:gdLst/>
              <a:ahLst/>
              <a:cxnLst/>
              <a:rect r="r" b="b" t="t" l="l"/>
              <a:pathLst>
                <a:path h="1383538" w="1383538">
                  <a:moveTo>
                    <a:pt x="0" y="691769"/>
                  </a:moveTo>
                  <a:cubicBezTo>
                    <a:pt x="0" y="309753"/>
                    <a:pt x="309753" y="0"/>
                    <a:pt x="691769" y="0"/>
                  </a:cubicBezTo>
                  <a:cubicBezTo>
                    <a:pt x="1073785" y="0"/>
                    <a:pt x="1383538" y="309753"/>
                    <a:pt x="1383538" y="691769"/>
                  </a:cubicBezTo>
                  <a:cubicBezTo>
                    <a:pt x="1383538" y="1073785"/>
                    <a:pt x="1073785" y="1383538"/>
                    <a:pt x="691769" y="1383538"/>
                  </a:cubicBezTo>
                  <a:cubicBezTo>
                    <a:pt x="309753" y="1383538"/>
                    <a:pt x="0" y="1073785"/>
                    <a:pt x="0" y="69176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42174" y="3299250"/>
            <a:ext cx="462686" cy="462686"/>
            <a:chOff x="0" y="0"/>
            <a:chExt cx="616915" cy="61691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26780" y="2649217"/>
            <a:ext cx="3591563" cy="6609083"/>
            <a:chOff x="0" y="0"/>
            <a:chExt cx="4788751" cy="8812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88789" cy="8812149"/>
            </a:xfrm>
            <a:custGeom>
              <a:avLst/>
              <a:gdLst/>
              <a:ahLst/>
              <a:cxnLst/>
              <a:rect r="r" b="b" t="t" l="l"/>
              <a:pathLst>
                <a:path h="8812149" w="478878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4592320" y="0"/>
                  </a:lnTo>
                  <a:cubicBezTo>
                    <a:pt x="4700778" y="0"/>
                    <a:pt x="4788789" y="88011"/>
                    <a:pt x="4788789" y="196469"/>
                  </a:cubicBezTo>
                  <a:lnTo>
                    <a:pt x="4788789" y="8615680"/>
                  </a:lnTo>
                  <a:cubicBezTo>
                    <a:pt x="4788789" y="8724138"/>
                    <a:pt x="4700778" y="8812149"/>
                    <a:pt x="4592320" y="8812149"/>
                  </a:cubicBezTo>
                  <a:lnTo>
                    <a:pt x="196469" y="8812149"/>
                  </a:lnTo>
                  <a:cubicBezTo>
                    <a:pt x="88011" y="8812149"/>
                    <a:pt x="0" y="8724138"/>
                    <a:pt x="0" y="8615680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803759" y="3011795"/>
            <a:ext cx="1037587" cy="1037587"/>
            <a:chOff x="0" y="0"/>
            <a:chExt cx="1383449" cy="13834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3538" cy="1383538"/>
            </a:xfrm>
            <a:custGeom>
              <a:avLst/>
              <a:gdLst/>
              <a:ahLst/>
              <a:cxnLst/>
              <a:rect r="r" b="b" t="t" l="l"/>
              <a:pathLst>
                <a:path h="1383538" w="1383538">
                  <a:moveTo>
                    <a:pt x="0" y="691769"/>
                  </a:moveTo>
                  <a:cubicBezTo>
                    <a:pt x="0" y="309753"/>
                    <a:pt x="309753" y="0"/>
                    <a:pt x="691769" y="0"/>
                  </a:cubicBezTo>
                  <a:cubicBezTo>
                    <a:pt x="1073785" y="0"/>
                    <a:pt x="1383538" y="309753"/>
                    <a:pt x="1383538" y="691769"/>
                  </a:cubicBezTo>
                  <a:cubicBezTo>
                    <a:pt x="1383538" y="1073785"/>
                    <a:pt x="1073785" y="1383538"/>
                    <a:pt x="691769" y="1383538"/>
                  </a:cubicBezTo>
                  <a:cubicBezTo>
                    <a:pt x="309753" y="1383538"/>
                    <a:pt x="0" y="1073785"/>
                    <a:pt x="0" y="69176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091214" y="3299250"/>
            <a:ext cx="462686" cy="462686"/>
            <a:chOff x="0" y="0"/>
            <a:chExt cx="616915" cy="616915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58700" y="2649217"/>
            <a:ext cx="4808480" cy="3225803"/>
            <a:chOff x="0" y="0"/>
            <a:chExt cx="6411307" cy="4301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11345" cy="4301109"/>
            </a:xfrm>
            <a:custGeom>
              <a:avLst/>
              <a:gdLst/>
              <a:ahLst/>
              <a:cxnLst/>
              <a:rect r="r" b="b" t="t" l="l"/>
              <a:pathLst>
                <a:path h="4301109" w="6411345">
                  <a:moveTo>
                    <a:pt x="0" y="196596"/>
                  </a:moveTo>
                  <a:cubicBezTo>
                    <a:pt x="0" y="88011"/>
                    <a:pt x="78076" y="0"/>
                    <a:pt x="174403" y="0"/>
                  </a:cubicBezTo>
                  <a:lnTo>
                    <a:pt x="6236938" y="0"/>
                  </a:lnTo>
                  <a:cubicBezTo>
                    <a:pt x="6333265" y="0"/>
                    <a:pt x="6411345" y="88011"/>
                    <a:pt x="6411345" y="196596"/>
                  </a:cubicBezTo>
                  <a:lnTo>
                    <a:pt x="6411345" y="4104513"/>
                  </a:lnTo>
                  <a:cubicBezTo>
                    <a:pt x="6411345" y="4213098"/>
                    <a:pt x="6333265" y="4301109"/>
                    <a:pt x="6236938" y="4301109"/>
                  </a:cubicBezTo>
                  <a:lnTo>
                    <a:pt x="174403" y="4301109"/>
                  </a:lnTo>
                  <a:cubicBezTo>
                    <a:pt x="78076" y="4301109"/>
                    <a:pt x="0" y="4213098"/>
                    <a:pt x="0" y="4104513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699231" y="2835269"/>
            <a:ext cx="302844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Job market signals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541173" y="2832097"/>
            <a:ext cx="1482654" cy="464315"/>
            <a:chOff x="0" y="0"/>
            <a:chExt cx="1976872" cy="6190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6910" cy="619125"/>
            </a:xfrm>
            <a:custGeom>
              <a:avLst/>
              <a:gdLst/>
              <a:ahLst/>
              <a:cxnLst/>
              <a:rect r="r" b="b" t="t" l="l"/>
              <a:pathLst>
                <a:path h="619125" w="1976910">
                  <a:moveTo>
                    <a:pt x="0" y="129032"/>
                  </a:moveTo>
                  <a:cubicBezTo>
                    <a:pt x="0" y="57785"/>
                    <a:pt x="51262" y="0"/>
                    <a:pt x="114466" y="0"/>
                  </a:cubicBezTo>
                  <a:lnTo>
                    <a:pt x="1862440" y="0"/>
                  </a:lnTo>
                  <a:cubicBezTo>
                    <a:pt x="1925644" y="0"/>
                    <a:pt x="1976910" y="57785"/>
                    <a:pt x="1976910" y="129032"/>
                  </a:cubicBezTo>
                  <a:lnTo>
                    <a:pt x="1976910" y="490093"/>
                  </a:lnTo>
                  <a:cubicBezTo>
                    <a:pt x="1976910" y="561340"/>
                    <a:pt x="1925644" y="619125"/>
                    <a:pt x="1862440" y="619125"/>
                  </a:cubicBezTo>
                  <a:lnTo>
                    <a:pt x="114466" y="619125"/>
                  </a:lnTo>
                  <a:cubicBezTo>
                    <a:pt x="51262" y="619125"/>
                    <a:pt x="0" y="561340"/>
                    <a:pt x="0" y="490093"/>
                  </a:cubicBezTo>
                  <a:close/>
                </a:path>
              </a:pathLst>
            </a:custGeom>
            <a:solidFill>
              <a:srgbClr val="3B2A7A"/>
            </a:solidFill>
            <a:ln w="25400" cap="sq">
              <a:solidFill>
                <a:srgbClr val="8B5CF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2436" y="2844794"/>
            <a:ext cx="1460119" cy="438912"/>
            <a:chOff x="0" y="0"/>
            <a:chExt cx="1946825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46825" cy="585216"/>
            </a:xfrm>
            <a:custGeom>
              <a:avLst/>
              <a:gdLst/>
              <a:ahLst/>
              <a:cxnLst/>
              <a:rect r="r" b="b" t="t" l="l"/>
              <a:pathLst>
                <a:path h="585216" w="1946825">
                  <a:moveTo>
                    <a:pt x="0" y="0"/>
                  </a:moveTo>
                  <a:lnTo>
                    <a:pt x="1946825" y="0"/>
                  </a:lnTo>
                  <a:lnTo>
                    <a:pt x="194682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68" r="-12725" b="-230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946825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Outdated</a:t>
              </a:r>
            </a:p>
          </p:txBody>
        </p:sp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86056" y="3355090"/>
            <a:ext cx="5353769" cy="3397875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 rot="0">
            <a:off x="12458700" y="6123937"/>
            <a:ext cx="4808480" cy="3134363"/>
            <a:chOff x="0" y="0"/>
            <a:chExt cx="6411307" cy="41791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11345" cy="4179189"/>
            </a:xfrm>
            <a:custGeom>
              <a:avLst/>
              <a:gdLst/>
              <a:ahLst/>
              <a:cxnLst/>
              <a:rect r="r" b="b" t="t" l="l"/>
              <a:pathLst>
                <a:path h="4179189" w="6411345">
                  <a:moveTo>
                    <a:pt x="0" y="196723"/>
                  </a:moveTo>
                  <a:cubicBezTo>
                    <a:pt x="0" y="88011"/>
                    <a:pt x="78076" y="0"/>
                    <a:pt x="174516" y="0"/>
                  </a:cubicBezTo>
                  <a:lnTo>
                    <a:pt x="6236825" y="0"/>
                  </a:lnTo>
                  <a:cubicBezTo>
                    <a:pt x="6333152" y="0"/>
                    <a:pt x="6411345" y="88011"/>
                    <a:pt x="6411345" y="196723"/>
                  </a:cubicBezTo>
                  <a:lnTo>
                    <a:pt x="6411345" y="3982466"/>
                  </a:lnTo>
                  <a:cubicBezTo>
                    <a:pt x="6411345" y="4091051"/>
                    <a:pt x="6333265" y="4179189"/>
                    <a:pt x="6236825" y="4179189"/>
                  </a:cubicBezTo>
                  <a:lnTo>
                    <a:pt x="174516" y="4179189"/>
                  </a:lnTo>
                  <a:cubicBezTo>
                    <a:pt x="78076" y="4179189"/>
                    <a:pt x="0" y="4091051"/>
                    <a:pt x="0" y="3982466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713317" y="6309989"/>
            <a:ext cx="292023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Skill gaps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541173" y="6306817"/>
            <a:ext cx="1482654" cy="464315"/>
            <a:chOff x="0" y="0"/>
            <a:chExt cx="1976872" cy="6190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76910" cy="619125"/>
            </a:xfrm>
            <a:custGeom>
              <a:avLst/>
              <a:gdLst/>
              <a:ahLst/>
              <a:cxnLst/>
              <a:rect r="r" b="b" t="t" l="l"/>
              <a:pathLst>
                <a:path h="619125" w="1976910">
                  <a:moveTo>
                    <a:pt x="0" y="129032"/>
                  </a:moveTo>
                  <a:cubicBezTo>
                    <a:pt x="0" y="57785"/>
                    <a:pt x="51262" y="0"/>
                    <a:pt x="114466" y="0"/>
                  </a:cubicBezTo>
                  <a:lnTo>
                    <a:pt x="1862440" y="0"/>
                  </a:lnTo>
                  <a:cubicBezTo>
                    <a:pt x="1925644" y="0"/>
                    <a:pt x="1976910" y="57785"/>
                    <a:pt x="1976910" y="129032"/>
                  </a:cubicBezTo>
                  <a:lnTo>
                    <a:pt x="1976910" y="490093"/>
                  </a:lnTo>
                  <a:cubicBezTo>
                    <a:pt x="1976910" y="561340"/>
                    <a:pt x="1925644" y="619125"/>
                    <a:pt x="1862440" y="619125"/>
                  </a:cubicBezTo>
                  <a:lnTo>
                    <a:pt x="114466" y="619125"/>
                  </a:lnTo>
                  <a:cubicBezTo>
                    <a:pt x="51262" y="619125"/>
                    <a:pt x="0" y="561340"/>
                    <a:pt x="0" y="490093"/>
                  </a:cubicBezTo>
                  <a:close/>
                </a:path>
              </a:pathLst>
            </a:custGeom>
            <a:solidFill>
              <a:srgbClr val="0F3D2E"/>
            </a:solidFill>
            <a:ln w="254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5552436" y="6319514"/>
            <a:ext cx="1460119" cy="438912"/>
            <a:chOff x="0" y="0"/>
            <a:chExt cx="1946825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46825" cy="585216"/>
            </a:xfrm>
            <a:custGeom>
              <a:avLst/>
              <a:gdLst/>
              <a:ahLst/>
              <a:cxnLst/>
              <a:rect r="r" b="b" t="t" l="l"/>
              <a:pathLst>
                <a:path h="585216" w="1946825">
                  <a:moveTo>
                    <a:pt x="0" y="0"/>
                  </a:moveTo>
                  <a:lnTo>
                    <a:pt x="1946825" y="0"/>
                  </a:lnTo>
                  <a:lnTo>
                    <a:pt x="194682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68" r="-12725" b="-2306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946825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Growing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07681" y="7319000"/>
            <a:ext cx="4310502" cy="305305"/>
            <a:chOff x="0" y="0"/>
            <a:chExt cx="5747336" cy="4070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47424" cy="407162"/>
            </a:xfrm>
            <a:custGeom>
              <a:avLst/>
              <a:gdLst/>
              <a:ahLst/>
              <a:cxnLst/>
              <a:rect r="r" b="b" t="t" l="l"/>
              <a:pathLst>
                <a:path h="407162" w="5747424">
                  <a:moveTo>
                    <a:pt x="0" y="203581"/>
                  </a:moveTo>
                  <a:cubicBezTo>
                    <a:pt x="0" y="91186"/>
                    <a:pt x="80892" y="0"/>
                    <a:pt x="180600" y="0"/>
                  </a:cubicBezTo>
                  <a:lnTo>
                    <a:pt x="5566815" y="0"/>
                  </a:lnTo>
                  <a:cubicBezTo>
                    <a:pt x="5666522" y="0"/>
                    <a:pt x="5747424" y="91186"/>
                    <a:pt x="5747424" y="203581"/>
                  </a:cubicBezTo>
                  <a:cubicBezTo>
                    <a:pt x="5747424" y="315976"/>
                    <a:pt x="5666522" y="407162"/>
                    <a:pt x="5566815" y="407162"/>
                  </a:cubicBezTo>
                  <a:lnTo>
                    <a:pt x="180600" y="407162"/>
                  </a:lnTo>
                  <a:cubicBezTo>
                    <a:pt x="80892" y="407035"/>
                    <a:pt x="0" y="315976"/>
                    <a:pt x="0" y="203581"/>
                  </a:cubicBezTo>
                  <a:close/>
                </a:path>
              </a:pathLst>
            </a:custGeom>
            <a:solidFill>
              <a:srgbClr val="12264F"/>
            </a:solidFill>
            <a:ln w="12700" cap="sq">
              <a:solidFill>
                <a:srgbClr val="1E3A6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707681" y="7319000"/>
            <a:ext cx="1795853" cy="305305"/>
            <a:chOff x="0" y="0"/>
            <a:chExt cx="2394471" cy="4070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94559" cy="407162"/>
            </a:xfrm>
            <a:custGeom>
              <a:avLst/>
              <a:gdLst/>
              <a:ahLst/>
              <a:cxnLst/>
              <a:rect r="r" b="b" t="t" l="l"/>
              <a:pathLst>
                <a:path h="407162" w="2394559">
                  <a:moveTo>
                    <a:pt x="0" y="203581"/>
                  </a:moveTo>
                  <a:cubicBezTo>
                    <a:pt x="0" y="91186"/>
                    <a:pt x="80892" y="0"/>
                    <a:pt x="180600" y="0"/>
                  </a:cubicBezTo>
                  <a:lnTo>
                    <a:pt x="2213950" y="0"/>
                  </a:lnTo>
                  <a:cubicBezTo>
                    <a:pt x="2313657" y="0"/>
                    <a:pt x="2394559" y="91186"/>
                    <a:pt x="2394559" y="203581"/>
                  </a:cubicBezTo>
                  <a:cubicBezTo>
                    <a:pt x="2394559" y="315976"/>
                    <a:pt x="2313657" y="407162"/>
                    <a:pt x="2213950" y="407162"/>
                  </a:cubicBezTo>
                  <a:lnTo>
                    <a:pt x="180600" y="407162"/>
                  </a:lnTo>
                  <a:cubicBezTo>
                    <a:pt x="80892" y="407035"/>
                    <a:pt x="0" y="315976"/>
                    <a:pt x="0" y="203581"/>
                  </a:cubicBezTo>
                  <a:close/>
                </a:path>
              </a:pathLst>
            </a:custGeom>
            <a:solidFill>
              <a:srgbClr val="22D3EE"/>
            </a:solidFill>
            <a:ln w="1270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99231" y="8040995"/>
            <a:ext cx="906376" cy="854707"/>
            <a:chOff x="0" y="0"/>
            <a:chExt cx="1208502" cy="11396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08461" cy="1139571"/>
            </a:xfrm>
            <a:custGeom>
              <a:avLst/>
              <a:gdLst/>
              <a:ahLst/>
              <a:cxnLst/>
              <a:rect r="r" b="b" t="t" l="l"/>
              <a:pathLst>
                <a:path h="1139571" w="1208461">
                  <a:moveTo>
                    <a:pt x="0" y="569849"/>
                  </a:moveTo>
                  <a:cubicBezTo>
                    <a:pt x="0" y="255143"/>
                    <a:pt x="270567" y="0"/>
                    <a:pt x="604298" y="0"/>
                  </a:cubicBezTo>
                  <a:cubicBezTo>
                    <a:pt x="938029" y="0"/>
                    <a:pt x="1208461" y="255143"/>
                    <a:pt x="1208461" y="569849"/>
                  </a:cubicBezTo>
                  <a:cubicBezTo>
                    <a:pt x="1208461" y="884555"/>
                    <a:pt x="938029" y="1139571"/>
                    <a:pt x="604298" y="1139571"/>
                  </a:cubicBezTo>
                  <a:cubicBezTo>
                    <a:pt x="270567" y="1139571"/>
                    <a:pt x="0" y="884555"/>
                    <a:pt x="0" y="56984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038478" y="8056874"/>
            <a:ext cx="2811841" cy="822960"/>
            <a:chOff x="0" y="0"/>
            <a:chExt cx="3749122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491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49122">
                  <a:moveTo>
                    <a:pt x="0" y="0"/>
                  </a:moveTo>
                  <a:lnTo>
                    <a:pt x="3749122" y="0"/>
                  </a:lnTo>
                  <a:lnTo>
                    <a:pt x="37491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600" r="-30078" b="-366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749122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New skills emerging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3315336" y="-4603057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59" y="0"/>
                </a:lnTo>
                <a:lnTo>
                  <a:pt x="8361459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969656" y="1126604"/>
            <a:ext cx="16042898" cy="112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9"/>
              </a:lnSpc>
            </a:pPr>
            <a:r>
              <a:rPr lang="en-US" sz="83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4277" y="4298309"/>
            <a:ext cx="3200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Workers &amp; Graduates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74004" y="5443080"/>
            <a:ext cx="3300936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Don't know which skills to learn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Unsure which roles are in demand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Hard to find up-to-date guidance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73317" y="4298309"/>
            <a:ext cx="3200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Employers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73317" y="5374634"/>
            <a:ext cx="3270247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Struggle to plan reskilling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Lack visibility of future skills needs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Risk of talent gaps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22357" y="4298309"/>
            <a:ext cx="3200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Gaps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816978" y="5450834"/>
            <a:ext cx="310896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Outdated job signals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Static learning pathways</a:t>
            </a:r>
          </a:p>
          <a:p>
            <a:pPr algn="l" marL="579116" indent="-28955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Uncertain AI-driven changes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436077" y="760551"/>
            <a:ext cx="3657600" cy="621841"/>
            <a:chOff x="0" y="0"/>
            <a:chExt cx="4876800" cy="8291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603779" y="754380"/>
            <a:ext cx="548640" cy="548640"/>
            <a:chOff x="0" y="0"/>
            <a:chExt cx="7315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205" y="248990"/>
            <a:ext cx="17735591" cy="9859478"/>
            <a:chOff x="0" y="0"/>
            <a:chExt cx="4671102" cy="25967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1102" cy="2596735"/>
            </a:xfrm>
            <a:custGeom>
              <a:avLst/>
              <a:gdLst/>
              <a:ahLst/>
              <a:cxnLst/>
              <a:rect r="r" b="b" t="t" l="l"/>
              <a:pathLst>
                <a:path h="2596735" w="4671102">
                  <a:moveTo>
                    <a:pt x="22262" y="0"/>
                  </a:moveTo>
                  <a:lnTo>
                    <a:pt x="4648839" y="0"/>
                  </a:lnTo>
                  <a:cubicBezTo>
                    <a:pt x="4661135" y="0"/>
                    <a:pt x="4671102" y="9967"/>
                    <a:pt x="4671102" y="22262"/>
                  </a:cubicBezTo>
                  <a:lnTo>
                    <a:pt x="4671102" y="2574473"/>
                  </a:lnTo>
                  <a:cubicBezTo>
                    <a:pt x="4671102" y="2586768"/>
                    <a:pt x="4661135" y="2596735"/>
                    <a:pt x="4648839" y="2596735"/>
                  </a:cubicBezTo>
                  <a:lnTo>
                    <a:pt x="22262" y="2596735"/>
                  </a:lnTo>
                  <a:cubicBezTo>
                    <a:pt x="9967" y="2596735"/>
                    <a:pt x="0" y="2586768"/>
                    <a:pt x="0" y="2574473"/>
                  </a:cubicBezTo>
                  <a:lnTo>
                    <a:pt x="0" y="22262"/>
                  </a:lnTo>
                  <a:cubicBezTo>
                    <a:pt x="0" y="9967"/>
                    <a:pt x="9967" y="0"/>
                    <a:pt x="22262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71102" cy="2653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7675" y="1664860"/>
            <a:ext cx="3279783" cy="4679352"/>
            <a:chOff x="0" y="0"/>
            <a:chExt cx="5151004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0915" cy="7348983"/>
            </a:xfrm>
            <a:custGeom>
              <a:avLst/>
              <a:gdLst/>
              <a:ahLst/>
              <a:cxnLst/>
              <a:rect r="r" b="b" t="t" l="l"/>
              <a:pathLst>
                <a:path h="7348983" w="5150915">
                  <a:moveTo>
                    <a:pt x="0" y="196342"/>
                  </a:moveTo>
                  <a:cubicBezTo>
                    <a:pt x="0" y="87884"/>
                    <a:pt x="87824" y="0"/>
                    <a:pt x="196208" y="0"/>
                  </a:cubicBezTo>
                  <a:lnTo>
                    <a:pt x="4954706" y="0"/>
                  </a:lnTo>
                  <a:cubicBezTo>
                    <a:pt x="5063091" y="0"/>
                    <a:pt x="5150915" y="87884"/>
                    <a:pt x="5150915" y="196342"/>
                  </a:cubicBezTo>
                  <a:lnTo>
                    <a:pt x="5150915" y="7152640"/>
                  </a:lnTo>
                  <a:cubicBezTo>
                    <a:pt x="5150915" y="7261098"/>
                    <a:pt x="5063091" y="7348982"/>
                    <a:pt x="4954706" y="7348982"/>
                  </a:cubicBezTo>
                  <a:lnTo>
                    <a:pt x="196208" y="7348982"/>
                  </a:lnTo>
                  <a:cubicBezTo>
                    <a:pt x="87824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05899" y="2050308"/>
            <a:ext cx="1423318" cy="1424288"/>
            <a:chOff x="0" y="0"/>
            <a:chExt cx="2235367" cy="22368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5456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5456">
                  <a:moveTo>
                    <a:pt x="0" y="1118489"/>
                  </a:moveTo>
                  <a:cubicBezTo>
                    <a:pt x="0" y="500761"/>
                    <a:pt x="500420" y="0"/>
                    <a:pt x="1117728" y="0"/>
                  </a:cubicBezTo>
                  <a:cubicBezTo>
                    <a:pt x="1735036" y="0"/>
                    <a:pt x="2235456" y="500761"/>
                    <a:pt x="2235456" y="1118489"/>
                  </a:cubicBezTo>
                  <a:cubicBezTo>
                    <a:pt x="2235456" y="1736217"/>
                    <a:pt x="1735036" y="2236978"/>
                    <a:pt x="1117728" y="2236978"/>
                  </a:cubicBezTo>
                  <a:cubicBezTo>
                    <a:pt x="500420" y="2236978"/>
                    <a:pt x="0" y="1736090"/>
                    <a:pt x="0" y="111848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896394" y="2378827"/>
            <a:ext cx="642337" cy="705015"/>
            <a:chOff x="0" y="0"/>
            <a:chExt cx="1008811" cy="110724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08836" cy="1107275"/>
            </a:xfrm>
            <a:custGeom>
              <a:avLst/>
              <a:gdLst/>
              <a:ahLst/>
              <a:cxnLst/>
              <a:rect r="r" b="b" t="t" l="l"/>
              <a:pathLst>
                <a:path h="1107275" w="1008836">
                  <a:moveTo>
                    <a:pt x="0" y="0"/>
                  </a:moveTo>
                  <a:lnTo>
                    <a:pt x="1008836" y="0"/>
                  </a:lnTo>
                  <a:lnTo>
                    <a:pt x="1008836" y="1107275"/>
                  </a:lnTo>
                  <a:lnTo>
                    <a:pt x="0" y="1107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81" t="-2" r="-487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3601" y="3762117"/>
            <a:ext cx="2947923" cy="34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1. Build Your Profile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1178" y="4771304"/>
            <a:ext cx="2792769" cy="96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</a:pPr>
            <a:r>
              <a:rPr lang="en-US" sz="2128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Upload your CV or complete a short questionnaire.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69586" y="1664860"/>
            <a:ext cx="3282016" cy="4679352"/>
            <a:chOff x="0" y="0"/>
            <a:chExt cx="4376021" cy="623913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376021" cy="6239135"/>
              <a:chOff x="0" y="0"/>
              <a:chExt cx="5154511" cy="73490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154422" cy="7348983"/>
              </a:xfrm>
              <a:custGeom>
                <a:avLst/>
                <a:gdLst/>
                <a:ahLst/>
                <a:cxnLst/>
                <a:rect r="r" b="b" t="t" l="l"/>
                <a:pathLst>
                  <a:path h="7348983" w="5154422">
                    <a:moveTo>
                      <a:pt x="0" y="196342"/>
                    </a:moveTo>
                    <a:cubicBezTo>
                      <a:pt x="0" y="87884"/>
                      <a:pt x="87884" y="0"/>
                      <a:pt x="196342" y="0"/>
                    </a:cubicBezTo>
                    <a:lnTo>
                      <a:pt x="4958080" y="0"/>
                    </a:lnTo>
                    <a:cubicBezTo>
                      <a:pt x="5066538" y="0"/>
                      <a:pt x="5154422" y="87884"/>
                      <a:pt x="5154422" y="196342"/>
                    </a:cubicBezTo>
                    <a:lnTo>
                      <a:pt x="5154422" y="7152640"/>
                    </a:lnTo>
                    <a:cubicBezTo>
                      <a:pt x="5154422" y="7261098"/>
                      <a:pt x="5066538" y="7348982"/>
                      <a:pt x="4958080" y="7348982"/>
                    </a:cubicBezTo>
                    <a:lnTo>
                      <a:pt x="196342" y="7348982"/>
                    </a:lnTo>
                    <a:cubicBezTo>
                      <a:pt x="87884" y="7349109"/>
                      <a:pt x="0" y="7261098"/>
                      <a:pt x="0" y="7152640"/>
                    </a:cubicBezTo>
                    <a:close/>
                  </a:path>
                </a:pathLst>
              </a:custGeom>
              <a:solidFill>
                <a:srgbClr val="0B1A3A">
                  <a:alpha val="56863"/>
                </a:srgbClr>
              </a:solidFill>
              <a:ln w="25400" cap="sq">
                <a:solidFill>
                  <a:srgbClr val="22D3EE">
                    <a:alpha val="56863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38475" y="513931"/>
              <a:ext cx="1899050" cy="1899050"/>
              <a:chOff x="0" y="0"/>
              <a:chExt cx="2236889" cy="223688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36978" cy="2236978"/>
              </a:xfrm>
              <a:custGeom>
                <a:avLst/>
                <a:gdLst/>
                <a:ahLst/>
                <a:cxnLst/>
                <a:rect r="r" b="b" t="t" l="l"/>
                <a:pathLst>
                  <a:path h="2236978" w="2236978">
                    <a:moveTo>
                      <a:pt x="0" y="1118489"/>
                    </a:moveTo>
                    <a:cubicBezTo>
                      <a:pt x="0" y="500761"/>
                      <a:pt x="500761" y="0"/>
                      <a:pt x="1118489" y="0"/>
                    </a:cubicBezTo>
                    <a:cubicBezTo>
                      <a:pt x="1736217" y="0"/>
                      <a:pt x="2236978" y="500761"/>
                      <a:pt x="2236978" y="1118489"/>
                    </a:cubicBezTo>
                    <a:cubicBezTo>
                      <a:pt x="2236978" y="1736217"/>
                      <a:pt x="1736217" y="2236978"/>
                      <a:pt x="1118489" y="2236978"/>
                    </a:cubicBezTo>
                    <a:cubicBezTo>
                      <a:pt x="500761" y="2236978"/>
                      <a:pt x="0" y="1736090"/>
                      <a:pt x="0" y="1118489"/>
                    </a:cubicBezTo>
                    <a:close/>
                  </a:path>
                </a:pathLst>
              </a:custGeom>
              <a:solidFill>
                <a:srgbClr val="0E2A5A"/>
              </a:solidFill>
              <a:ln w="317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59489" y="1034945"/>
              <a:ext cx="857032" cy="857032"/>
              <a:chOff x="0" y="0"/>
              <a:chExt cx="1009498" cy="1009498"/>
            </a:xfrm>
          </p:grpSpPr>
          <p:sp>
            <p:nvSpPr>
              <p:cNvPr name="Freeform 19" id="19" descr="preencoded.png"/>
              <p:cNvSpPr/>
              <p:nvPr/>
            </p:nvSpPr>
            <p:spPr>
              <a:xfrm flipH="false" flipV="false" rot="0">
                <a:off x="0" y="0"/>
                <a:ext cx="1009523" cy="1009523"/>
              </a:xfrm>
              <a:custGeom>
                <a:avLst/>
                <a:gdLst/>
                <a:ahLst/>
                <a:cxnLst/>
                <a:rect r="r" b="b" t="t" l="l"/>
                <a:pathLst>
                  <a:path h="1009523" w="1009523">
                    <a:moveTo>
                      <a:pt x="0" y="0"/>
                    </a:moveTo>
                    <a:lnTo>
                      <a:pt x="1009523" y="0"/>
                    </a:lnTo>
                    <a:lnTo>
                      <a:pt x="1009523" y="1009523"/>
                    </a:lnTo>
                    <a:lnTo>
                      <a:pt x="0" y="10095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2" b="2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21385" y="2799518"/>
              <a:ext cx="3933241" cy="905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2"/>
                </a:lnSpc>
              </a:pPr>
              <a:r>
                <a:rPr lang="en-US" b="true" sz="2210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Live AI &amp; Job-Market Signals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24891" y="4145101"/>
              <a:ext cx="3726228" cy="861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53"/>
                </a:lnSpc>
              </a:pPr>
              <a:r>
                <a:rPr lang="en-US" sz="2128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Track the latest trends from trusted sources.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566382" y="1664860"/>
            <a:ext cx="3282016" cy="4679352"/>
            <a:chOff x="0" y="0"/>
            <a:chExt cx="4376021" cy="623913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376021" cy="6239135"/>
              <a:chOff x="0" y="0"/>
              <a:chExt cx="5154511" cy="73490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154422" cy="7348983"/>
              </a:xfrm>
              <a:custGeom>
                <a:avLst/>
                <a:gdLst/>
                <a:ahLst/>
                <a:cxnLst/>
                <a:rect r="r" b="b" t="t" l="l"/>
                <a:pathLst>
                  <a:path h="7348983" w="5154422">
                    <a:moveTo>
                      <a:pt x="0" y="196342"/>
                    </a:moveTo>
                    <a:cubicBezTo>
                      <a:pt x="0" y="87884"/>
                      <a:pt x="87884" y="0"/>
                      <a:pt x="196342" y="0"/>
                    </a:cubicBezTo>
                    <a:lnTo>
                      <a:pt x="4958080" y="0"/>
                    </a:lnTo>
                    <a:cubicBezTo>
                      <a:pt x="5066538" y="0"/>
                      <a:pt x="5154422" y="87884"/>
                      <a:pt x="5154422" y="196342"/>
                    </a:cubicBezTo>
                    <a:lnTo>
                      <a:pt x="5154422" y="7152640"/>
                    </a:lnTo>
                    <a:cubicBezTo>
                      <a:pt x="5154422" y="7261098"/>
                      <a:pt x="5066538" y="7348982"/>
                      <a:pt x="4958080" y="7348982"/>
                    </a:cubicBezTo>
                    <a:lnTo>
                      <a:pt x="196342" y="7348982"/>
                    </a:lnTo>
                    <a:cubicBezTo>
                      <a:pt x="87884" y="7349109"/>
                      <a:pt x="0" y="7261098"/>
                      <a:pt x="0" y="7152640"/>
                    </a:cubicBezTo>
                    <a:close/>
                  </a:path>
                </a:pathLst>
              </a:custGeom>
              <a:solidFill>
                <a:srgbClr val="0B1A3A">
                  <a:alpha val="56863"/>
                </a:srgbClr>
              </a:solidFill>
              <a:ln w="25400" cap="sq">
                <a:solidFill>
                  <a:srgbClr val="22D3EE">
                    <a:alpha val="56863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38475" y="513931"/>
              <a:ext cx="1899050" cy="1899050"/>
              <a:chOff x="0" y="0"/>
              <a:chExt cx="2236889" cy="22368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36978" cy="2236978"/>
              </a:xfrm>
              <a:custGeom>
                <a:avLst/>
                <a:gdLst/>
                <a:ahLst/>
                <a:cxnLst/>
                <a:rect r="r" b="b" t="t" l="l"/>
                <a:pathLst>
                  <a:path h="2236978" w="2236978">
                    <a:moveTo>
                      <a:pt x="0" y="1118489"/>
                    </a:moveTo>
                    <a:cubicBezTo>
                      <a:pt x="0" y="500761"/>
                      <a:pt x="500761" y="0"/>
                      <a:pt x="1118489" y="0"/>
                    </a:cubicBezTo>
                    <a:cubicBezTo>
                      <a:pt x="1736217" y="0"/>
                      <a:pt x="2236978" y="500761"/>
                      <a:pt x="2236978" y="1118489"/>
                    </a:cubicBezTo>
                    <a:cubicBezTo>
                      <a:pt x="2236978" y="1736217"/>
                      <a:pt x="1736217" y="2236978"/>
                      <a:pt x="1118489" y="2236978"/>
                    </a:cubicBezTo>
                    <a:cubicBezTo>
                      <a:pt x="500761" y="2236978"/>
                      <a:pt x="0" y="1736090"/>
                      <a:pt x="0" y="1118489"/>
                    </a:cubicBezTo>
                    <a:close/>
                  </a:path>
                </a:pathLst>
              </a:custGeom>
              <a:solidFill>
                <a:srgbClr val="0E2A5A"/>
              </a:solidFill>
              <a:ln w="317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759489" y="1034945"/>
              <a:ext cx="857032" cy="857032"/>
              <a:chOff x="0" y="0"/>
              <a:chExt cx="1009498" cy="1009498"/>
            </a:xfrm>
          </p:grpSpPr>
          <p:sp>
            <p:nvSpPr>
              <p:cNvPr name="Freeform 28" id="28" descr="preencoded.png"/>
              <p:cNvSpPr/>
              <p:nvPr/>
            </p:nvSpPr>
            <p:spPr>
              <a:xfrm flipH="false" flipV="false" rot="0">
                <a:off x="0" y="0"/>
                <a:ext cx="1009523" cy="1009523"/>
              </a:xfrm>
              <a:custGeom>
                <a:avLst/>
                <a:gdLst/>
                <a:ahLst/>
                <a:cxnLst/>
                <a:rect r="r" b="b" t="t" l="l"/>
                <a:pathLst>
                  <a:path h="1009523" w="1009523">
                    <a:moveTo>
                      <a:pt x="0" y="0"/>
                    </a:moveTo>
                    <a:lnTo>
                      <a:pt x="1009523" y="0"/>
                    </a:lnTo>
                    <a:lnTo>
                      <a:pt x="1009523" y="1009523"/>
                    </a:lnTo>
                    <a:lnTo>
                      <a:pt x="0" y="10095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2" b="2"/>
                </a:stretch>
              </a:blip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221385" y="2799518"/>
              <a:ext cx="3933241" cy="905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2"/>
                </a:lnSpc>
              </a:pPr>
              <a:r>
                <a:rPr lang="en-US" sz="221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Future Role Matches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24891" y="4145101"/>
              <a:ext cx="3726228" cy="1713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53"/>
                </a:lnSpc>
              </a:pPr>
              <a:r>
                <a:rPr lang="en-US" sz="2128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Get personalised recommendations with match scores and skills gaps.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099252" y="5207448"/>
            <a:ext cx="3292243" cy="4693933"/>
            <a:chOff x="0" y="0"/>
            <a:chExt cx="5154511" cy="73490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54422" cy="7348983"/>
            </a:xfrm>
            <a:custGeom>
              <a:avLst/>
              <a:gdLst/>
              <a:ahLst/>
              <a:cxnLst/>
              <a:rect r="r" b="b" t="t" l="l"/>
              <a:pathLst>
                <a:path h="7348983" w="5154422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58080" y="0"/>
                  </a:lnTo>
                  <a:cubicBezTo>
                    <a:pt x="5066538" y="0"/>
                    <a:pt x="5154422" y="87884"/>
                    <a:pt x="5154422" y="196342"/>
                  </a:cubicBezTo>
                  <a:lnTo>
                    <a:pt x="5154422" y="7152640"/>
                  </a:lnTo>
                  <a:cubicBezTo>
                    <a:pt x="5154422" y="7261098"/>
                    <a:pt x="5066538" y="7348982"/>
                    <a:pt x="4958080" y="7348982"/>
                  </a:cubicBezTo>
                  <a:lnTo>
                    <a:pt x="196342" y="7348982"/>
                  </a:lnTo>
                  <a:cubicBezTo>
                    <a:pt x="87884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0B1A3A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31002" y="5594097"/>
            <a:ext cx="1428726" cy="1428726"/>
            <a:chOff x="0" y="0"/>
            <a:chExt cx="2236889" cy="2236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36978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6978">
                  <a:moveTo>
                    <a:pt x="0" y="1118489"/>
                  </a:moveTo>
                  <a:cubicBezTo>
                    <a:pt x="0" y="500761"/>
                    <a:pt x="500761" y="0"/>
                    <a:pt x="1118489" y="0"/>
                  </a:cubicBezTo>
                  <a:cubicBezTo>
                    <a:pt x="1736217" y="0"/>
                    <a:pt x="2236978" y="500761"/>
                    <a:pt x="2236978" y="1118489"/>
                  </a:cubicBezTo>
                  <a:cubicBezTo>
                    <a:pt x="2236978" y="1736217"/>
                    <a:pt x="1736217" y="2236978"/>
                    <a:pt x="1118489" y="2236978"/>
                  </a:cubicBezTo>
                  <a:cubicBezTo>
                    <a:pt x="500761" y="2236978"/>
                    <a:pt x="0" y="1736090"/>
                    <a:pt x="0" y="1118489"/>
                  </a:cubicBezTo>
                  <a:close/>
                </a:path>
              </a:pathLst>
            </a:custGeom>
            <a:solidFill>
              <a:srgbClr val="0E2A5A"/>
            </a:solidFill>
            <a:ln w="317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026256" y="5207448"/>
            <a:ext cx="3292243" cy="4693933"/>
            <a:chOff x="0" y="0"/>
            <a:chExt cx="4389658" cy="625857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389658" cy="6258578"/>
              <a:chOff x="0" y="0"/>
              <a:chExt cx="5154511" cy="734907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154422" cy="7348983"/>
              </a:xfrm>
              <a:custGeom>
                <a:avLst/>
                <a:gdLst/>
                <a:ahLst/>
                <a:cxnLst/>
                <a:rect r="r" b="b" t="t" l="l"/>
                <a:pathLst>
                  <a:path h="7348983" w="5154422">
                    <a:moveTo>
                      <a:pt x="0" y="196342"/>
                    </a:moveTo>
                    <a:cubicBezTo>
                      <a:pt x="0" y="87884"/>
                      <a:pt x="87884" y="0"/>
                      <a:pt x="196342" y="0"/>
                    </a:cubicBezTo>
                    <a:lnTo>
                      <a:pt x="4958080" y="0"/>
                    </a:lnTo>
                    <a:cubicBezTo>
                      <a:pt x="5066538" y="0"/>
                      <a:pt x="5154422" y="87884"/>
                      <a:pt x="5154422" y="196342"/>
                    </a:cubicBezTo>
                    <a:lnTo>
                      <a:pt x="5154422" y="7152640"/>
                    </a:lnTo>
                    <a:cubicBezTo>
                      <a:pt x="5154422" y="7261098"/>
                      <a:pt x="5066538" y="7348982"/>
                      <a:pt x="4958080" y="7348982"/>
                    </a:cubicBezTo>
                    <a:lnTo>
                      <a:pt x="196342" y="7348982"/>
                    </a:lnTo>
                    <a:cubicBezTo>
                      <a:pt x="87884" y="7349109"/>
                      <a:pt x="0" y="7261098"/>
                      <a:pt x="0" y="7152640"/>
                    </a:cubicBezTo>
                    <a:close/>
                  </a:path>
                </a:pathLst>
              </a:custGeom>
              <a:solidFill>
                <a:srgbClr val="0B1A3A">
                  <a:alpha val="56863"/>
                </a:srgbClr>
              </a:solidFill>
              <a:ln w="25400" cap="sq">
                <a:solidFill>
                  <a:srgbClr val="22D3EE">
                    <a:alpha val="56863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42334" y="515532"/>
              <a:ext cx="1904968" cy="1904968"/>
              <a:chOff x="0" y="0"/>
              <a:chExt cx="2236889" cy="223688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236978" cy="2236978"/>
              </a:xfrm>
              <a:custGeom>
                <a:avLst/>
                <a:gdLst/>
                <a:ahLst/>
                <a:cxnLst/>
                <a:rect r="r" b="b" t="t" l="l"/>
                <a:pathLst>
                  <a:path h="2236978" w="2236978">
                    <a:moveTo>
                      <a:pt x="0" y="1118489"/>
                    </a:moveTo>
                    <a:cubicBezTo>
                      <a:pt x="0" y="500761"/>
                      <a:pt x="500761" y="0"/>
                      <a:pt x="1118489" y="0"/>
                    </a:cubicBezTo>
                    <a:cubicBezTo>
                      <a:pt x="1736217" y="0"/>
                      <a:pt x="2236978" y="500761"/>
                      <a:pt x="2236978" y="1118489"/>
                    </a:cubicBezTo>
                    <a:cubicBezTo>
                      <a:pt x="2236978" y="1736217"/>
                      <a:pt x="1736217" y="2236978"/>
                      <a:pt x="1118489" y="2236978"/>
                    </a:cubicBezTo>
                    <a:cubicBezTo>
                      <a:pt x="500761" y="2236978"/>
                      <a:pt x="0" y="1736090"/>
                      <a:pt x="0" y="1118489"/>
                    </a:cubicBezTo>
                    <a:close/>
                  </a:path>
                </a:pathLst>
              </a:custGeom>
              <a:solidFill>
                <a:srgbClr val="0E2A5A"/>
              </a:solidFill>
              <a:ln w="317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64972" y="1038170"/>
              <a:ext cx="859703" cy="859703"/>
              <a:chOff x="0" y="0"/>
              <a:chExt cx="1009498" cy="1009498"/>
            </a:xfrm>
          </p:grpSpPr>
          <p:sp>
            <p:nvSpPr>
              <p:cNvPr name="Freeform 41" id="41" descr="preencoded.png"/>
              <p:cNvSpPr/>
              <p:nvPr/>
            </p:nvSpPr>
            <p:spPr>
              <a:xfrm flipH="false" flipV="false" rot="0">
                <a:off x="0" y="0"/>
                <a:ext cx="1009523" cy="1009523"/>
              </a:xfrm>
              <a:custGeom>
                <a:avLst/>
                <a:gdLst/>
                <a:ahLst/>
                <a:cxnLst/>
                <a:rect r="r" b="b" t="t" l="l"/>
                <a:pathLst>
                  <a:path h="1009523" w="1009523">
                    <a:moveTo>
                      <a:pt x="0" y="0"/>
                    </a:moveTo>
                    <a:lnTo>
                      <a:pt x="1009523" y="0"/>
                    </a:lnTo>
                    <a:lnTo>
                      <a:pt x="1009523" y="1009523"/>
                    </a:lnTo>
                    <a:lnTo>
                      <a:pt x="0" y="10095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2" b="2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22075" y="2808272"/>
              <a:ext cx="3945497" cy="45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1"/>
                </a:lnSpc>
              </a:pPr>
              <a:r>
                <a:rPr lang="en-US" sz="2217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Learning Pathway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25904" y="4158047"/>
              <a:ext cx="3737840" cy="1719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1"/>
                </a:lnSpc>
              </a:pPr>
              <a:r>
                <a:rPr lang="en-US" sz="2134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Follow a flexible, low-cost reskilling plan linked to relevant SDGs.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28358" y="436821"/>
            <a:ext cx="12868411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AiversePulse S</a:t>
            </a:r>
            <a:r>
              <a:rPr lang="en-US" sz="75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olution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65808" y="7311271"/>
            <a:ext cx="2959123" cy="3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217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5. HR Review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43680" y="8323602"/>
            <a:ext cx="2803380" cy="129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2134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Employers can use the HR tools to review candidates and plan development.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84567" y="5922907"/>
            <a:ext cx="721614" cy="721614"/>
            <a:chOff x="0" y="0"/>
            <a:chExt cx="616915" cy="616915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3315336" y="-4603057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59" y="0"/>
                </a:lnTo>
                <a:lnTo>
                  <a:pt x="8361459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603779" y="754380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36" t="0" r="-3036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436077" y="760551"/>
            <a:ext cx="3657600" cy="621841"/>
            <a:chOff x="0" y="0"/>
            <a:chExt cx="4876800" cy="8291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492854"/>
            <a:ext cx="7802253" cy="6247620"/>
            <a:chOff x="0" y="0"/>
            <a:chExt cx="9177784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7626" cy="7348983"/>
            </a:xfrm>
            <a:custGeom>
              <a:avLst/>
              <a:gdLst/>
              <a:ahLst/>
              <a:cxnLst/>
              <a:rect r="r" b="b" t="t" l="l"/>
              <a:pathLst>
                <a:path h="7348983" w="9177626">
                  <a:moveTo>
                    <a:pt x="0" y="196342"/>
                  </a:moveTo>
                  <a:cubicBezTo>
                    <a:pt x="0" y="87884"/>
                    <a:pt x="156480" y="0"/>
                    <a:pt x="349594" y="0"/>
                  </a:cubicBezTo>
                  <a:lnTo>
                    <a:pt x="8828032" y="0"/>
                  </a:lnTo>
                  <a:cubicBezTo>
                    <a:pt x="9021145" y="0"/>
                    <a:pt x="9177626" y="87884"/>
                    <a:pt x="9177626" y="196342"/>
                  </a:cubicBezTo>
                  <a:lnTo>
                    <a:pt x="9177626" y="7152640"/>
                  </a:lnTo>
                  <a:cubicBezTo>
                    <a:pt x="9177626" y="7261098"/>
                    <a:pt x="9021145" y="7348982"/>
                    <a:pt x="8828032" y="7348982"/>
                  </a:cubicBezTo>
                  <a:lnTo>
                    <a:pt x="349594" y="7348982"/>
                  </a:lnTo>
                  <a:cubicBezTo>
                    <a:pt x="156480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12264F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 flipH="true">
            <a:off x="9144000" y="2492854"/>
            <a:ext cx="19050" cy="624762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964862" y="1133475"/>
            <a:ext cx="10396376" cy="9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What Makes I</a:t>
            </a: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t Different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8144" y="4035904"/>
            <a:ext cx="6913831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Ever</a:t>
            </a: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y recommended role has a match score and a breakdown of why. It shows which skills you already have, which are missing, and how much each one affects the score</a:t>
            </a:r>
          </a:p>
          <a:p>
            <a:pPr algn="just">
              <a:lnSpc>
                <a:spcPts val="3639"/>
              </a:lnSpc>
            </a:pP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Most tools return a job title with no reasoning. Explainability builds trust and turns the result into an action: “here is what to build next.”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1566" y="2942902"/>
            <a:ext cx="6520409" cy="58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Rol</a:t>
            </a: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 Match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18460" y="754380"/>
            <a:ext cx="548640" cy="548640"/>
            <a:chOff x="0" y="0"/>
            <a:chExt cx="7315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36" t="0" r="-303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092780" y="1250544"/>
            <a:ext cx="3657600" cy="621841"/>
            <a:chOff x="0" y="0"/>
            <a:chExt cx="4876800" cy="8291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77375" y="2492854"/>
            <a:ext cx="7802253" cy="6247620"/>
            <a:chOff x="0" y="0"/>
            <a:chExt cx="9177784" cy="73490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7626" cy="7348983"/>
            </a:xfrm>
            <a:custGeom>
              <a:avLst/>
              <a:gdLst/>
              <a:ahLst/>
              <a:cxnLst/>
              <a:rect r="r" b="b" t="t" l="l"/>
              <a:pathLst>
                <a:path h="7348983" w="9177626">
                  <a:moveTo>
                    <a:pt x="0" y="196342"/>
                  </a:moveTo>
                  <a:cubicBezTo>
                    <a:pt x="0" y="87884"/>
                    <a:pt x="156480" y="0"/>
                    <a:pt x="349594" y="0"/>
                  </a:cubicBezTo>
                  <a:lnTo>
                    <a:pt x="8828032" y="0"/>
                  </a:lnTo>
                  <a:cubicBezTo>
                    <a:pt x="9021145" y="0"/>
                    <a:pt x="9177626" y="87884"/>
                    <a:pt x="9177626" y="196342"/>
                  </a:cubicBezTo>
                  <a:lnTo>
                    <a:pt x="9177626" y="7152640"/>
                  </a:lnTo>
                  <a:cubicBezTo>
                    <a:pt x="9177626" y="7261098"/>
                    <a:pt x="9021145" y="7348982"/>
                    <a:pt x="8828032" y="7348982"/>
                  </a:cubicBezTo>
                  <a:lnTo>
                    <a:pt x="349594" y="7348982"/>
                  </a:lnTo>
                  <a:cubicBezTo>
                    <a:pt x="156480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12264F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716819" y="3981388"/>
            <a:ext cx="6991304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e system continuously pulls in AI and job-market data, so the Future Skills Radar changes when the data changes. It isn’t a hard-coded list</a:t>
            </a:r>
          </a:p>
          <a:p>
            <a:pPr algn="just">
              <a:lnSpc>
                <a:spcPts val="3639"/>
              </a:lnSpc>
            </a:pP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Ensure the shown data is the latest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87714" y="2970051"/>
            <a:ext cx="6520409" cy="58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Evolving Tr</a:t>
            </a: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end Signals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99975" y="1133475"/>
            <a:ext cx="10488051" cy="9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What Makes I</a:t>
            </a: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t Different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766060"/>
            <a:ext cx="7802253" cy="6247620"/>
            <a:chOff x="0" y="0"/>
            <a:chExt cx="9177784" cy="7349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77626" cy="7348983"/>
            </a:xfrm>
            <a:custGeom>
              <a:avLst/>
              <a:gdLst/>
              <a:ahLst/>
              <a:cxnLst/>
              <a:rect r="r" b="b" t="t" l="l"/>
              <a:pathLst>
                <a:path h="7348983" w="9177626">
                  <a:moveTo>
                    <a:pt x="0" y="196342"/>
                  </a:moveTo>
                  <a:cubicBezTo>
                    <a:pt x="0" y="87884"/>
                    <a:pt x="156480" y="0"/>
                    <a:pt x="349594" y="0"/>
                  </a:cubicBezTo>
                  <a:lnTo>
                    <a:pt x="8828032" y="0"/>
                  </a:lnTo>
                  <a:cubicBezTo>
                    <a:pt x="9021145" y="0"/>
                    <a:pt x="9177626" y="87884"/>
                    <a:pt x="9177626" y="196342"/>
                  </a:cubicBezTo>
                  <a:lnTo>
                    <a:pt x="9177626" y="7152640"/>
                  </a:lnTo>
                  <a:cubicBezTo>
                    <a:pt x="9177626" y="7261098"/>
                    <a:pt x="9021145" y="7348982"/>
                    <a:pt x="8828032" y="7348982"/>
                  </a:cubicBezTo>
                  <a:lnTo>
                    <a:pt x="349594" y="7348982"/>
                  </a:lnTo>
                  <a:cubicBezTo>
                    <a:pt x="156480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12264F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5241" y="4186800"/>
            <a:ext cx="6700953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AI recomm</a:t>
            </a: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ends, explains and plans, but the user makes the decisions. It never makes final career or hiring choices, and users can explore alternative roles and adjust their plan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Follow the rule AI is a partner, not a replacement, and the brief’s human-centred rule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986" y="3243257"/>
            <a:ext cx="4611681" cy="58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Human in Control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57047" y="2766060"/>
            <a:ext cx="7802253" cy="6247620"/>
            <a:chOff x="0" y="0"/>
            <a:chExt cx="9177784" cy="7349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7626" cy="7348983"/>
            </a:xfrm>
            <a:custGeom>
              <a:avLst/>
              <a:gdLst/>
              <a:ahLst/>
              <a:cxnLst/>
              <a:rect r="r" b="b" t="t" l="l"/>
              <a:pathLst>
                <a:path h="7348983" w="9177626">
                  <a:moveTo>
                    <a:pt x="0" y="196342"/>
                  </a:moveTo>
                  <a:cubicBezTo>
                    <a:pt x="0" y="87884"/>
                    <a:pt x="156480" y="0"/>
                    <a:pt x="349594" y="0"/>
                  </a:cubicBezTo>
                  <a:lnTo>
                    <a:pt x="8828032" y="0"/>
                  </a:lnTo>
                  <a:cubicBezTo>
                    <a:pt x="9021145" y="0"/>
                    <a:pt x="9177626" y="87884"/>
                    <a:pt x="9177626" y="196342"/>
                  </a:cubicBezTo>
                  <a:lnTo>
                    <a:pt x="9177626" y="7152640"/>
                  </a:lnTo>
                  <a:cubicBezTo>
                    <a:pt x="9177626" y="7261098"/>
                    <a:pt x="9021145" y="7348982"/>
                    <a:pt x="8828032" y="7348982"/>
                  </a:cubicBezTo>
                  <a:lnTo>
                    <a:pt x="349594" y="7348982"/>
                  </a:lnTo>
                  <a:cubicBezTo>
                    <a:pt x="156480" y="7349109"/>
                    <a:pt x="0" y="7261098"/>
                    <a:pt x="0" y="7152640"/>
                  </a:cubicBezTo>
                  <a:close/>
                </a:path>
              </a:pathLst>
            </a:custGeom>
            <a:solidFill>
              <a:srgbClr val="12264F">
                <a:alpha val="56863"/>
              </a:srgbClr>
            </a:solidFill>
            <a:ln w="25400" cap="sq">
              <a:solidFill>
                <a:srgbClr val="22D3EE">
                  <a:alpha val="56863"/>
                </a:srgbClr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584898" y="3243257"/>
            <a:ext cx="4113752" cy="58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000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Mock Interview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5525" y="4186800"/>
            <a:ext cx="6706796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Aft</a:t>
            </a: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er choosing a target role, the user practises with an AI interviewer that asks role-specific questions and gives feedback on answers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User can have interview experience and improve their interview skills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9144000" y="2766060"/>
            <a:ext cx="19050" cy="621903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5228614" y="1899988"/>
            <a:ext cx="3657600" cy="621841"/>
            <a:chOff x="0" y="0"/>
            <a:chExt cx="4876800" cy="8291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79974" y="1899988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09794" y="4661852"/>
            <a:ext cx="12868411" cy="108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sz="80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 Demonstration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00519" y="1097567"/>
            <a:ext cx="3657600" cy="621841"/>
            <a:chOff x="0" y="0"/>
            <a:chExt cx="4876800" cy="829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4229" y="1097567"/>
            <a:ext cx="548640" cy="548640"/>
            <a:chOff x="0" y="0"/>
            <a:chExt cx="7315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109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15336" y="-4603057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59" y="0"/>
                </a:lnTo>
                <a:lnTo>
                  <a:pt x="8361459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5840" y="7759703"/>
            <a:ext cx="16253460" cy="1122683"/>
            <a:chOff x="0" y="0"/>
            <a:chExt cx="21671280" cy="1496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71318" cy="1497076"/>
            </a:xfrm>
            <a:custGeom>
              <a:avLst/>
              <a:gdLst/>
              <a:ahLst/>
              <a:cxnLst/>
              <a:rect r="r" b="b" t="t" l="l"/>
              <a:pathLst>
                <a:path h="1497076" w="21671318">
                  <a:moveTo>
                    <a:pt x="0" y="199644"/>
                  </a:moveTo>
                  <a:cubicBezTo>
                    <a:pt x="0" y="89408"/>
                    <a:pt x="86241" y="0"/>
                    <a:pt x="192572" y="0"/>
                  </a:cubicBezTo>
                  <a:lnTo>
                    <a:pt x="21478745" y="0"/>
                  </a:lnTo>
                  <a:cubicBezTo>
                    <a:pt x="21585076" y="0"/>
                    <a:pt x="21671318" y="89408"/>
                    <a:pt x="21671318" y="199644"/>
                  </a:cubicBezTo>
                  <a:lnTo>
                    <a:pt x="21671318" y="1297432"/>
                  </a:lnTo>
                  <a:cubicBezTo>
                    <a:pt x="21671318" y="1407668"/>
                    <a:pt x="21585076" y="1497076"/>
                    <a:pt x="21478745" y="1497076"/>
                  </a:cubicBezTo>
                  <a:lnTo>
                    <a:pt x="192572" y="1497076"/>
                  </a:lnTo>
                  <a:cubicBezTo>
                    <a:pt x="86241" y="1496949"/>
                    <a:pt x="0" y="1407541"/>
                    <a:pt x="0" y="1297305"/>
                  </a:cubicBezTo>
                  <a:close/>
                </a:path>
              </a:pathLst>
            </a:custGeom>
            <a:solidFill>
              <a:srgbClr val="0C2250">
                <a:alpha val="56863"/>
              </a:srgbClr>
            </a:solidFill>
            <a:ln w="25400" cap="sq">
              <a:solidFill>
                <a:srgbClr val="1E3A6E">
                  <a:alpha val="56863"/>
                </a:srgbClr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7976" y="7759703"/>
            <a:ext cx="1828800" cy="1097280"/>
            <a:chOff x="0" y="0"/>
            <a:chExt cx="24384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8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68888" y="7772405"/>
            <a:ext cx="2560320" cy="1097280"/>
            <a:chOff x="0" y="0"/>
            <a:chExt cx="341376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413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HTML / JS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52160" y="7785106"/>
            <a:ext cx="1773936" cy="1097280"/>
            <a:chOff x="0" y="0"/>
            <a:chExt cx="2365248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652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98" t="0" r="-5152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365248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58678" y="7785106"/>
            <a:ext cx="2560320" cy="1097280"/>
            <a:chOff x="0" y="0"/>
            <a:chExt cx="341376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413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FastAPI + MCP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47000" y="7785106"/>
            <a:ext cx="2560320" cy="1097280"/>
            <a:chOff x="0" y="0"/>
            <a:chExt cx="341376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413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SQLite + Chroma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59344" y="7785106"/>
            <a:ext cx="2560320" cy="1097280"/>
            <a:chOff x="0" y="0"/>
            <a:chExt cx="341376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137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Gemini + PyTorch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5052" y="1131311"/>
            <a:ext cx="12868411" cy="96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3"/>
              </a:lnSpc>
            </a:pPr>
            <a:r>
              <a:rPr lang="en-US" sz="71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Fea</a:t>
            </a:r>
            <a:r>
              <a:rPr lang="en-US" sz="71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sibility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6305" y="2332353"/>
            <a:ext cx="3107055" cy="4963163"/>
            <a:chOff x="0" y="0"/>
            <a:chExt cx="4142740" cy="661755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142740" cy="6617551"/>
              <a:chOff x="0" y="0"/>
              <a:chExt cx="4142740" cy="661755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142778" cy="6617589"/>
              </a:xfrm>
              <a:custGeom>
                <a:avLst/>
                <a:gdLst/>
                <a:ahLst/>
                <a:cxnLst/>
                <a:rect r="r" b="b" t="t" l="l"/>
                <a:pathLst>
                  <a:path h="6617589" w="4142778">
                    <a:moveTo>
                      <a:pt x="0" y="196850"/>
                    </a:moveTo>
                    <a:cubicBezTo>
                      <a:pt x="0" y="88138"/>
                      <a:pt x="98913" y="0"/>
                      <a:pt x="220914" y="0"/>
                    </a:cubicBezTo>
                    <a:lnTo>
                      <a:pt x="3921869" y="0"/>
                    </a:lnTo>
                    <a:cubicBezTo>
                      <a:pt x="4043870" y="0"/>
                      <a:pt x="4142778" y="88138"/>
                      <a:pt x="4142778" y="196850"/>
                    </a:cubicBezTo>
                    <a:lnTo>
                      <a:pt x="4142778" y="6420739"/>
                    </a:lnTo>
                    <a:cubicBezTo>
                      <a:pt x="4142778" y="6529451"/>
                      <a:pt x="4043870" y="6617589"/>
                      <a:pt x="3921869" y="6617589"/>
                    </a:cubicBezTo>
                    <a:lnTo>
                      <a:pt x="220914" y="6617589"/>
                    </a:lnTo>
                    <a:cubicBezTo>
                      <a:pt x="98913" y="6617589"/>
                      <a:pt x="0" y="6529451"/>
                      <a:pt x="0" y="6420739"/>
                    </a:cubicBezTo>
                    <a:close/>
                  </a:path>
                </a:pathLst>
              </a:custGeom>
              <a:solidFill>
                <a:srgbClr val="0C2250">
                  <a:alpha val="56863"/>
                </a:srgbClr>
              </a:solidFill>
              <a:ln w="25400" cap="sq">
                <a:solidFill>
                  <a:srgbClr val="1E3A6E">
                    <a:alpha val="56863"/>
                  </a:srgbClr>
                </a:solidFill>
                <a:prstDash val="solid"/>
                <a:miter/>
              </a:ln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17456" y="361277"/>
              <a:ext cx="636210" cy="722966"/>
            </a:xfrm>
            <a:custGeom>
              <a:avLst/>
              <a:gdLst/>
              <a:ahLst/>
              <a:cxnLst/>
              <a:rect r="r" b="b" t="t" l="l"/>
              <a:pathLst>
                <a:path h="722966" w="636210">
                  <a:moveTo>
                    <a:pt x="0" y="0"/>
                  </a:moveTo>
                  <a:lnTo>
                    <a:pt x="636210" y="0"/>
                  </a:lnTo>
                  <a:lnTo>
                    <a:pt x="636210" y="722966"/>
                  </a:lnTo>
                  <a:lnTo>
                    <a:pt x="0" y="722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58162" y="1390186"/>
              <a:ext cx="3626415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Sources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330" y="2624893"/>
              <a:ext cx="3901440" cy="178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0858" indent="-26542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ESCO + O*NET</a:t>
              </a:r>
            </a:p>
            <a:p>
              <a:pPr algn="l" marL="474978" indent="-23748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Job-m</a:t>
              </a: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arket &amp; AI trends</a:t>
              </a:r>
            </a:p>
            <a:p>
              <a:pPr algn="l">
                <a:lnSpc>
                  <a:spcPts val="26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749048" y="2281934"/>
            <a:ext cx="3372887" cy="4963163"/>
            <a:chOff x="0" y="0"/>
            <a:chExt cx="4497183" cy="661755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497183" cy="6617551"/>
              <a:chOff x="0" y="0"/>
              <a:chExt cx="4497183" cy="66175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497221" cy="6617589"/>
              </a:xfrm>
              <a:custGeom>
                <a:avLst/>
                <a:gdLst/>
                <a:ahLst/>
                <a:cxnLst/>
                <a:rect r="r" b="b" t="t" l="l"/>
                <a:pathLst>
                  <a:path h="6617589" w="4497221">
                    <a:moveTo>
                      <a:pt x="0" y="196850"/>
                    </a:moveTo>
                    <a:cubicBezTo>
                      <a:pt x="0" y="88138"/>
                      <a:pt x="107375" y="0"/>
                      <a:pt x="239815" y="0"/>
                    </a:cubicBezTo>
                    <a:lnTo>
                      <a:pt x="4257415" y="0"/>
                    </a:lnTo>
                    <a:cubicBezTo>
                      <a:pt x="4389854" y="0"/>
                      <a:pt x="4497221" y="88138"/>
                      <a:pt x="4497221" y="196850"/>
                    </a:cubicBezTo>
                    <a:lnTo>
                      <a:pt x="4497221" y="6420739"/>
                    </a:lnTo>
                    <a:cubicBezTo>
                      <a:pt x="4497221" y="6529451"/>
                      <a:pt x="4389854" y="6617589"/>
                      <a:pt x="4257415" y="6617589"/>
                    </a:cubicBezTo>
                    <a:lnTo>
                      <a:pt x="239815" y="6617589"/>
                    </a:lnTo>
                    <a:cubicBezTo>
                      <a:pt x="107375" y="6617589"/>
                      <a:pt x="0" y="6529451"/>
                      <a:pt x="0" y="6420739"/>
                    </a:cubicBezTo>
                    <a:close/>
                  </a:path>
                </a:pathLst>
              </a:custGeom>
              <a:solidFill>
                <a:srgbClr val="0C2250">
                  <a:alpha val="56863"/>
                </a:srgbClr>
              </a:solidFill>
              <a:ln w="25400" cap="sq">
                <a:solidFill>
                  <a:srgbClr val="1E3A6E">
                    <a:alpha val="56863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377098" y="309537"/>
              <a:ext cx="891184" cy="731520"/>
              <a:chOff x="0" y="0"/>
              <a:chExt cx="891184" cy="731520"/>
            </a:xfrm>
          </p:grpSpPr>
          <p:sp>
            <p:nvSpPr>
              <p:cNvPr name="Freeform 37" id="37" descr="preencoded.png"/>
              <p:cNvSpPr/>
              <p:nvPr/>
            </p:nvSpPr>
            <p:spPr>
              <a:xfrm flipH="false" flipV="false" rot="0">
                <a:off x="0" y="0"/>
                <a:ext cx="89118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91184">
                    <a:moveTo>
                      <a:pt x="0" y="0"/>
                    </a:moveTo>
                    <a:lnTo>
                      <a:pt x="891184" y="0"/>
                    </a:lnTo>
                    <a:lnTo>
                      <a:pt x="891184" y="731520"/>
                    </a:lnTo>
                    <a:lnTo>
                      <a:pt x="0" y="7315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10913" r="0" b="-10913"/>
                </a:stretch>
              </a:blip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504513" y="1457412"/>
              <a:ext cx="3861797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Analysis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07239" y="2589314"/>
              <a:ext cx="4082705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MiniLM + STF-KAN</a:t>
              </a:r>
            </a:p>
            <a:p>
              <a:pPr algn="l" marL="474978" indent="-23748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Assistive / Agentic scenarios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832119" y="2281934"/>
            <a:ext cx="3472276" cy="4963163"/>
            <a:chOff x="0" y="0"/>
            <a:chExt cx="4629701" cy="661755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629701" cy="6617551"/>
              <a:chOff x="0" y="0"/>
              <a:chExt cx="4629701" cy="661755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629739" cy="6617589"/>
              </a:xfrm>
              <a:custGeom>
                <a:avLst/>
                <a:gdLst/>
                <a:ahLst/>
                <a:cxnLst/>
                <a:rect r="r" b="b" t="t" l="l"/>
                <a:pathLst>
                  <a:path h="6617589" w="4629739">
                    <a:moveTo>
                      <a:pt x="0" y="196850"/>
                    </a:moveTo>
                    <a:cubicBezTo>
                      <a:pt x="0" y="88138"/>
                      <a:pt x="110539" y="0"/>
                      <a:pt x="246882" y="0"/>
                    </a:cubicBezTo>
                    <a:lnTo>
                      <a:pt x="4382868" y="0"/>
                    </a:lnTo>
                    <a:cubicBezTo>
                      <a:pt x="4519210" y="0"/>
                      <a:pt x="4629739" y="88138"/>
                      <a:pt x="4629739" y="196850"/>
                    </a:cubicBezTo>
                    <a:lnTo>
                      <a:pt x="4629739" y="6420739"/>
                    </a:lnTo>
                    <a:cubicBezTo>
                      <a:pt x="4629739" y="6529451"/>
                      <a:pt x="4519210" y="6617589"/>
                      <a:pt x="4382868" y="6617589"/>
                    </a:cubicBezTo>
                    <a:lnTo>
                      <a:pt x="246882" y="6617589"/>
                    </a:lnTo>
                    <a:cubicBezTo>
                      <a:pt x="110539" y="6617589"/>
                      <a:pt x="0" y="6529451"/>
                      <a:pt x="0" y="6420739"/>
                    </a:cubicBezTo>
                    <a:close/>
                  </a:path>
                </a:pathLst>
              </a:custGeom>
              <a:solidFill>
                <a:srgbClr val="0C2250">
                  <a:alpha val="46667"/>
                </a:srgbClr>
              </a:solidFill>
              <a:ln w="25400" cap="sq">
                <a:solidFill>
                  <a:srgbClr val="1E3A6E">
                    <a:alpha val="46667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88210" y="309537"/>
              <a:ext cx="917444" cy="731520"/>
              <a:chOff x="0" y="0"/>
              <a:chExt cx="917444" cy="731520"/>
            </a:xfrm>
          </p:grpSpPr>
          <p:sp>
            <p:nvSpPr>
              <p:cNvPr name="Freeform 44" id="44" descr="preencoded.png"/>
              <p:cNvSpPr/>
              <p:nvPr/>
            </p:nvSpPr>
            <p:spPr>
              <a:xfrm flipH="false" flipV="false" rot="0">
                <a:off x="0" y="0"/>
                <a:ext cx="91744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17444">
                    <a:moveTo>
                      <a:pt x="0" y="0"/>
                    </a:moveTo>
                    <a:lnTo>
                      <a:pt x="917444" y="0"/>
                    </a:lnTo>
                    <a:lnTo>
                      <a:pt x="917444" y="731520"/>
                    </a:lnTo>
                    <a:lnTo>
                      <a:pt x="0" y="7315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2708" r="0" b="-12708"/>
                </a:stretch>
              </a:blipFill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388210" y="1457412"/>
              <a:ext cx="397559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Multi-Agent System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57636" y="2589314"/>
              <a:ext cx="3914429" cy="178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LangGraph + FastMCP</a:t>
              </a:r>
            </a:p>
            <a:p>
              <a:pPr algn="l" marL="474978" indent="-237489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A8B8D8"/>
                  </a:solidFill>
                  <a:latin typeface="Roboto"/>
                  <a:ea typeface="Roboto"/>
                  <a:cs typeface="Roboto"/>
                  <a:sym typeface="Roboto"/>
                </a:rPr>
                <a:t>Role matching + pathway generation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315336" y="2332353"/>
            <a:ext cx="3448337" cy="4963163"/>
            <a:chOff x="0" y="0"/>
            <a:chExt cx="4597782" cy="6617551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4597782" cy="6617551"/>
              <a:chOff x="0" y="0"/>
              <a:chExt cx="4597782" cy="661755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597678" cy="6617462"/>
              </a:xfrm>
              <a:custGeom>
                <a:avLst/>
                <a:gdLst/>
                <a:ahLst/>
                <a:cxnLst/>
                <a:rect r="r" b="b" t="t" l="l"/>
                <a:pathLst>
                  <a:path h="6617462" w="4597678">
                    <a:moveTo>
                      <a:pt x="0" y="196723"/>
                    </a:moveTo>
                    <a:cubicBezTo>
                      <a:pt x="0" y="88138"/>
                      <a:pt x="102975" y="0"/>
                      <a:pt x="229839" y="0"/>
                    </a:cubicBezTo>
                    <a:lnTo>
                      <a:pt x="4367839" y="0"/>
                    </a:lnTo>
                    <a:cubicBezTo>
                      <a:pt x="4494851" y="0"/>
                      <a:pt x="4597678" y="88138"/>
                      <a:pt x="4597678" y="196723"/>
                    </a:cubicBezTo>
                    <a:lnTo>
                      <a:pt x="4597678" y="6420739"/>
                    </a:lnTo>
                    <a:cubicBezTo>
                      <a:pt x="4597678" y="6529451"/>
                      <a:pt x="4494703" y="6617462"/>
                      <a:pt x="4367839" y="6617462"/>
                    </a:cubicBezTo>
                    <a:lnTo>
                      <a:pt x="229839" y="6617462"/>
                    </a:lnTo>
                    <a:cubicBezTo>
                      <a:pt x="102975" y="6617589"/>
                      <a:pt x="0" y="6529451"/>
                      <a:pt x="0" y="6420739"/>
                    </a:cubicBezTo>
                    <a:close/>
                  </a:path>
                </a:pathLst>
              </a:custGeom>
              <a:solidFill>
                <a:srgbClr val="0C2250">
                  <a:alpha val="56863"/>
                </a:srgbClr>
              </a:solidFill>
              <a:ln w="25400" cap="sq">
                <a:solidFill>
                  <a:srgbClr val="1E3A6E">
                    <a:alpha val="56863"/>
                  </a:srgbClr>
                </a:solidFill>
                <a:prstDash val="solid"/>
                <a:miter/>
              </a:ln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361645" y="309537"/>
              <a:ext cx="854664" cy="731520"/>
              <a:chOff x="0" y="0"/>
              <a:chExt cx="854664" cy="731520"/>
            </a:xfrm>
          </p:grpSpPr>
          <p:sp>
            <p:nvSpPr>
              <p:cNvPr name="Freeform 51" id="51" descr="preencoded.png"/>
              <p:cNvSpPr/>
              <p:nvPr/>
            </p:nvSpPr>
            <p:spPr>
              <a:xfrm flipH="false" flipV="false" rot="0">
                <a:off x="0" y="0"/>
                <a:ext cx="85466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54664">
                    <a:moveTo>
                      <a:pt x="0" y="0"/>
                    </a:moveTo>
                    <a:lnTo>
                      <a:pt x="854664" y="0"/>
                    </a:lnTo>
                    <a:lnTo>
                      <a:pt x="854664" y="731520"/>
                    </a:lnTo>
                    <a:lnTo>
                      <a:pt x="0" y="7315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8417" r="0" b="-8417"/>
                </a:stretch>
              </a:blip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609349" y="1390186"/>
              <a:ext cx="3988433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Platform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586569" y="4438645"/>
            <a:ext cx="294859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FastAPI</a:t>
            </a:r>
          </a:p>
          <a:p>
            <a:pPr algn="l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SQLite + Chroma</a:t>
            </a:r>
          </a:p>
          <a:p>
            <a:pPr algn="l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Replit + RunPod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221612" y="4461510"/>
            <a:ext cx="329184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&gt;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312435" y="4461510"/>
            <a:ext cx="329184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&gt;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18720" y="4378701"/>
            <a:ext cx="329184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&gt;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362103" y="1472387"/>
            <a:ext cx="3657600" cy="621841"/>
            <a:chOff x="0" y="0"/>
            <a:chExt cx="4876800" cy="8291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813463" y="1472387"/>
            <a:ext cx="548640" cy="548640"/>
            <a:chOff x="0" y="0"/>
            <a:chExt cx="7315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384073"/>
            <a:chOff x="0" y="0"/>
            <a:chExt cx="4504087" cy="2471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71525"/>
            </a:xfrm>
            <a:custGeom>
              <a:avLst/>
              <a:gdLst/>
              <a:ahLst/>
              <a:cxnLst/>
              <a:rect r="r" b="b" t="t" l="l"/>
              <a:pathLst>
                <a:path h="2471525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448438"/>
                  </a:lnTo>
                  <a:cubicBezTo>
                    <a:pt x="4504087" y="2461189"/>
                    <a:pt x="4493751" y="2471525"/>
                    <a:pt x="4480999" y="2471525"/>
                  </a:cubicBezTo>
                  <a:lnTo>
                    <a:pt x="23088" y="2471525"/>
                  </a:lnTo>
                  <a:cubicBezTo>
                    <a:pt x="16965" y="2471525"/>
                    <a:pt x="11092" y="2469093"/>
                    <a:pt x="6762" y="2464763"/>
                  </a:cubicBezTo>
                  <a:cubicBezTo>
                    <a:pt x="2432" y="2460433"/>
                    <a:pt x="0" y="2454561"/>
                    <a:pt x="0" y="2448438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528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98847" y="1814936"/>
            <a:ext cx="10890306" cy="4192768"/>
          </a:xfrm>
          <a:custGeom>
            <a:avLst/>
            <a:gdLst/>
            <a:ahLst/>
            <a:cxnLst/>
            <a:rect r="r" b="b" t="t" l="l"/>
            <a:pathLst>
              <a:path h="4192768" w="10890306">
                <a:moveTo>
                  <a:pt x="0" y="0"/>
                </a:moveTo>
                <a:lnTo>
                  <a:pt x="10890306" y="0"/>
                </a:lnTo>
                <a:lnTo>
                  <a:pt x="10890306" y="4192768"/>
                </a:lnTo>
                <a:lnTo>
                  <a:pt x="0" y="4192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66212" y="6019642"/>
            <a:ext cx="14452998" cy="3569332"/>
            <a:chOff x="0" y="0"/>
            <a:chExt cx="1630211" cy="402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0211" cy="402599"/>
            </a:xfrm>
            <a:custGeom>
              <a:avLst/>
              <a:gdLst/>
              <a:ahLst/>
              <a:cxnLst/>
              <a:rect r="r" b="b" t="t" l="l"/>
              <a:pathLst>
                <a:path h="402599" w="1630211">
                  <a:moveTo>
                    <a:pt x="10462" y="0"/>
                  </a:moveTo>
                  <a:lnTo>
                    <a:pt x="1619749" y="0"/>
                  </a:lnTo>
                  <a:cubicBezTo>
                    <a:pt x="1622524" y="0"/>
                    <a:pt x="1625185" y="1102"/>
                    <a:pt x="1627147" y="3064"/>
                  </a:cubicBezTo>
                  <a:cubicBezTo>
                    <a:pt x="1629109" y="5026"/>
                    <a:pt x="1630211" y="7687"/>
                    <a:pt x="1630211" y="10462"/>
                  </a:cubicBezTo>
                  <a:lnTo>
                    <a:pt x="1630211" y="392137"/>
                  </a:lnTo>
                  <a:cubicBezTo>
                    <a:pt x="1630211" y="397915"/>
                    <a:pt x="1625527" y="402599"/>
                    <a:pt x="1619749" y="402599"/>
                  </a:cubicBezTo>
                  <a:lnTo>
                    <a:pt x="10462" y="402599"/>
                  </a:lnTo>
                  <a:cubicBezTo>
                    <a:pt x="4684" y="402599"/>
                    <a:pt x="0" y="397915"/>
                    <a:pt x="0" y="392137"/>
                  </a:cubicBezTo>
                  <a:lnTo>
                    <a:pt x="0" y="10462"/>
                  </a:lnTo>
                  <a:cubicBezTo>
                    <a:pt x="0" y="4684"/>
                    <a:pt x="4684" y="0"/>
                    <a:pt x="10462" y="0"/>
                  </a:cubicBezTo>
                  <a:close/>
                </a:path>
              </a:pathLst>
            </a:custGeom>
            <a:solidFill>
              <a:srgbClr val="1E3A6E">
                <a:alpha val="56863"/>
              </a:srgbClr>
            </a:solidFill>
            <a:ln w="38100" cap="rnd">
              <a:solidFill>
                <a:srgbClr val="22D3EE">
                  <a:alpha val="56863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30211" cy="459749"/>
            </a:xfrm>
            <a:prstGeom prst="rect">
              <a:avLst/>
            </a:prstGeom>
          </p:spPr>
          <p:txBody>
            <a:bodyPr anchor="ctr" rtlCol="false" tIns="54025" lIns="54025" bIns="54025" rIns="5402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7025" y="854182"/>
            <a:ext cx="11523028" cy="9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3721" y="6208557"/>
            <a:ext cx="14347179" cy="298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441" indent="-246220" lvl="1">
              <a:lnSpc>
                <a:spcPts val="4835"/>
              </a:lnSpc>
              <a:buFont typeface="Arial"/>
              <a:buChar char="•"/>
            </a:pP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Frontend </a:t>
            </a:r>
            <a:r>
              <a:rPr lang="en-US" sz="22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Plain HTML/CSS/JS, no build step. Agent progress streams live over SSE.</a:t>
            </a:r>
          </a:p>
          <a:p>
            <a:pPr algn="l" marL="492441" indent="-246220" lvl="1">
              <a:lnSpc>
                <a:spcPts val="4835"/>
              </a:lnSpc>
              <a:buFont typeface="Arial"/>
              <a:buChar char="•"/>
            </a:pP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API </a:t>
            </a:r>
            <a:r>
              <a:rPr lang="en-US" sz="22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FastAPI serves the public site, the HR console and the public apply page.</a:t>
            </a:r>
          </a:p>
          <a:p>
            <a:pPr algn="l" marL="492441" indent="-246220" lvl="1">
              <a:lnSpc>
                <a:spcPts val="4835"/>
              </a:lnSpc>
              <a:buFont typeface="Arial"/>
              <a:buChar char="•"/>
            </a:pP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nts </a:t>
            </a:r>
            <a:r>
              <a:rPr lang="en-US" sz="2280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A LangGraph graph calls 8 FastMCP tools: ESCO search, matching, skill outlook, trends, SDG.</a:t>
            </a:r>
          </a:p>
          <a:p>
            <a:pPr algn="l" marL="492441" indent="-246220" lvl="1">
              <a:lnSpc>
                <a:spcPts val="4835"/>
              </a:lnSpc>
              <a:buFont typeface="Arial"/>
              <a:buChar char="•"/>
            </a:pP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Storage </a:t>
            </a:r>
            <a:r>
              <a:rPr lang="en-US" sz="22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SQLite for accounts, immutable plan versions and the audit log; Chroma for vectors.</a:t>
            </a:r>
          </a:p>
          <a:p>
            <a:pPr algn="l" marL="492441" indent="-246220" lvl="1">
              <a:lnSpc>
                <a:spcPts val="4835"/>
              </a:lnSpc>
              <a:buFont typeface="Arial"/>
              <a:buChar char="•"/>
            </a:pPr>
            <a:r>
              <a:rPr lang="en-US" sz="2280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Compute </a:t>
            </a:r>
            <a:r>
              <a:rPr lang="en-US" sz="22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CPU serving on Replit or Docker; GPU training offline on RunPod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7161" y="1282172"/>
            <a:ext cx="3657600" cy="621841"/>
            <a:chOff x="0" y="0"/>
            <a:chExt cx="4876800" cy="829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98521" y="1282172"/>
            <a:ext cx="548640" cy="548640"/>
            <a:chOff x="0" y="0"/>
            <a:chExt cx="7315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5317" y="2094229"/>
            <a:ext cx="13962245" cy="3123462"/>
          </a:xfrm>
          <a:custGeom>
            <a:avLst/>
            <a:gdLst/>
            <a:ahLst/>
            <a:cxnLst/>
            <a:rect r="r" b="b" t="t" l="l"/>
            <a:pathLst>
              <a:path h="3123462" w="13962245">
                <a:moveTo>
                  <a:pt x="0" y="0"/>
                </a:moveTo>
                <a:lnTo>
                  <a:pt x="13962244" y="0"/>
                </a:lnTo>
                <a:lnTo>
                  <a:pt x="13962244" y="3123462"/>
                </a:lnTo>
                <a:lnTo>
                  <a:pt x="0" y="312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6741" y="1133475"/>
            <a:ext cx="12462696" cy="9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Multi-Agent Workfl</a:t>
            </a: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15317" y="5659323"/>
            <a:ext cx="13616678" cy="3238658"/>
            <a:chOff x="0" y="0"/>
            <a:chExt cx="1692696" cy="4025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2696" cy="402599"/>
            </a:xfrm>
            <a:custGeom>
              <a:avLst/>
              <a:gdLst/>
              <a:ahLst/>
              <a:cxnLst/>
              <a:rect r="r" b="b" t="t" l="l"/>
              <a:pathLst>
                <a:path h="402599" w="1692696">
                  <a:moveTo>
                    <a:pt x="11105" y="0"/>
                  </a:moveTo>
                  <a:lnTo>
                    <a:pt x="1681591" y="0"/>
                  </a:lnTo>
                  <a:cubicBezTo>
                    <a:pt x="1687724" y="0"/>
                    <a:pt x="1692696" y="4972"/>
                    <a:pt x="1692696" y="11105"/>
                  </a:cubicBezTo>
                  <a:lnTo>
                    <a:pt x="1692696" y="391494"/>
                  </a:lnTo>
                  <a:cubicBezTo>
                    <a:pt x="1692696" y="397627"/>
                    <a:pt x="1687724" y="402599"/>
                    <a:pt x="1681591" y="402599"/>
                  </a:cubicBezTo>
                  <a:lnTo>
                    <a:pt x="11105" y="402599"/>
                  </a:lnTo>
                  <a:cubicBezTo>
                    <a:pt x="4972" y="402599"/>
                    <a:pt x="0" y="397627"/>
                    <a:pt x="0" y="391494"/>
                  </a:cubicBezTo>
                  <a:lnTo>
                    <a:pt x="0" y="11105"/>
                  </a:lnTo>
                  <a:cubicBezTo>
                    <a:pt x="0" y="4972"/>
                    <a:pt x="4972" y="0"/>
                    <a:pt x="11105" y="0"/>
                  </a:cubicBezTo>
                  <a:close/>
                </a:path>
              </a:pathLst>
            </a:custGeom>
            <a:solidFill>
              <a:srgbClr val="1E3A6E">
                <a:alpha val="56863"/>
              </a:srgbClr>
            </a:solidFill>
            <a:ln w="38100" cap="rnd">
              <a:solidFill>
                <a:srgbClr val="22D3EE">
                  <a:alpha val="56863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692696" cy="450224"/>
            </a:xfrm>
            <a:prstGeom prst="rect">
              <a:avLst/>
            </a:prstGeom>
          </p:spPr>
          <p:txBody>
            <a:bodyPr anchor="ctr" rtlCol="false" tIns="54025" lIns="54025" bIns="54025" rIns="54025"/>
            <a:lstStyle/>
            <a:p>
              <a:pPr algn="ctr">
                <a:lnSpc>
                  <a:spcPts val="319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5748" y="5678300"/>
            <a:ext cx="13765782" cy="299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252" indent="-246126" lvl="1">
              <a:lnSpc>
                <a:spcPts val="4833"/>
              </a:lnSpc>
              <a:buFont typeface="Arial"/>
              <a:buChar char="•"/>
            </a:pP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Route </a:t>
            </a:r>
            <a:r>
              <a:rPr lang="en-US" sz="22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supervisor answers simple lookups at once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 and fans complex requests out.</a:t>
            </a:r>
          </a:p>
          <a:p>
            <a:pPr algn="l" marL="492252" indent="-246126" lvl="1">
              <a:lnSpc>
                <a:spcPts val="4833"/>
              </a:lnSpc>
              <a:buFont typeface="Arial"/>
              <a:buChar char="•"/>
            </a:pP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Parallel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 Profiler, Knowledge (MCP) and Market Analyst (STF-KAN) run side by side.</a:t>
            </a:r>
          </a:p>
          <a:p>
            <a:pPr algn="l" marL="492252" indent="-246126" lvl="1">
              <a:lnSpc>
                <a:spcPts val="4833"/>
              </a:lnSpc>
              <a:buFont typeface="Arial"/>
              <a:buChar char="•"/>
            </a:pP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Plan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 Gap Analyst ranks gaps under two AI scenarios, then Pathway and Coach write the plan.</a:t>
            </a:r>
          </a:p>
          <a:p>
            <a:pPr algn="l" marL="492252" indent="-246126" lvl="1">
              <a:lnSpc>
                <a:spcPts val="4833"/>
              </a:lnSpc>
              <a:buFont typeface="Arial"/>
              <a:buChar char="•"/>
            </a:pP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Check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 Reviewer validates schema, evidence, maths and capacity; at most 2 repairs, else flagged.</a:t>
            </a:r>
          </a:p>
          <a:p>
            <a:pPr algn="l" marL="492252" indent="-246126" lvl="1">
              <a:lnSpc>
                <a:spcPts val="4833"/>
              </a:lnSpc>
              <a:buFont typeface="Arial"/>
              <a:buChar char="•"/>
            </a:pPr>
            <a:r>
              <a:rPr lang="en-US" sz="2279">
                <a:solidFill>
                  <a:srgbClr val="22D3EE"/>
                </a:solidFill>
                <a:latin typeface="Roboto"/>
                <a:ea typeface="Roboto"/>
                <a:cs typeface="Roboto"/>
                <a:sym typeface="Roboto"/>
              </a:rPr>
              <a:t>LLM </a:t>
            </a:r>
            <a:r>
              <a:rPr lang="en-US" sz="2279">
                <a:solidFill>
                  <a:srgbClr val="FFFBF7"/>
                </a:solidFill>
                <a:latin typeface="Roboto"/>
                <a:ea typeface="Roboto"/>
                <a:cs typeface="Roboto"/>
                <a:sym typeface="Roboto"/>
              </a:rPr>
              <a:t>Deterministic by default; Gemini or any OpenAI-compatible model is optional.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315336" y="-4603057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59" y="0"/>
                </a:lnTo>
                <a:lnTo>
                  <a:pt x="8361459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907645" y="1034238"/>
            <a:ext cx="3657600" cy="621841"/>
            <a:chOff x="0" y="0"/>
            <a:chExt cx="4876800" cy="829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59005" y="1034238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317640"/>
            <a:ext cx="17101457" cy="9674059"/>
            <a:chOff x="0" y="0"/>
            <a:chExt cx="4504087" cy="2547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547900"/>
            </a:xfrm>
            <a:custGeom>
              <a:avLst/>
              <a:gdLst/>
              <a:ahLst/>
              <a:cxnLst/>
              <a:rect r="r" b="b" t="t" l="l"/>
              <a:pathLst>
                <a:path h="2547900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524812"/>
                  </a:lnTo>
                  <a:cubicBezTo>
                    <a:pt x="4504087" y="2530936"/>
                    <a:pt x="4501655" y="2536808"/>
                    <a:pt x="4497325" y="2541138"/>
                  </a:cubicBezTo>
                  <a:cubicBezTo>
                    <a:pt x="4492996" y="2545468"/>
                    <a:pt x="4487123" y="2547900"/>
                    <a:pt x="4480999" y="2547900"/>
                  </a:cubicBezTo>
                  <a:lnTo>
                    <a:pt x="23088" y="2547900"/>
                  </a:lnTo>
                  <a:cubicBezTo>
                    <a:pt x="16965" y="2547900"/>
                    <a:pt x="11092" y="2545468"/>
                    <a:pt x="6762" y="2541138"/>
                  </a:cubicBezTo>
                  <a:cubicBezTo>
                    <a:pt x="2432" y="2536808"/>
                    <a:pt x="0" y="2530936"/>
                    <a:pt x="0" y="2524812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6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816392"/>
            <a:ext cx="13903294" cy="3994976"/>
            <a:chOff x="0" y="0"/>
            <a:chExt cx="1728325" cy="4966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8325" cy="496617"/>
            </a:xfrm>
            <a:custGeom>
              <a:avLst/>
              <a:gdLst/>
              <a:ahLst/>
              <a:cxnLst/>
              <a:rect r="r" b="b" t="t" l="l"/>
              <a:pathLst>
                <a:path h="496617" w="1728325">
                  <a:moveTo>
                    <a:pt x="10876" y="0"/>
                  </a:moveTo>
                  <a:lnTo>
                    <a:pt x="1717449" y="0"/>
                  </a:lnTo>
                  <a:cubicBezTo>
                    <a:pt x="1720334" y="0"/>
                    <a:pt x="1723100" y="1146"/>
                    <a:pt x="1725140" y="3185"/>
                  </a:cubicBezTo>
                  <a:cubicBezTo>
                    <a:pt x="1727179" y="5225"/>
                    <a:pt x="1728325" y="7991"/>
                    <a:pt x="1728325" y="10876"/>
                  </a:cubicBezTo>
                  <a:lnTo>
                    <a:pt x="1728325" y="485742"/>
                  </a:lnTo>
                  <a:cubicBezTo>
                    <a:pt x="1728325" y="491748"/>
                    <a:pt x="1723456" y="496617"/>
                    <a:pt x="1717449" y="496617"/>
                  </a:cubicBezTo>
                  <a:lnTo>
                    <a:pt x="10876" y="496617"/>
                  </a:lnTo>
                  <a:cubicBezTo>
                    <a:pt x="4869" y="496617"/>
                    <a:pt x="0" y="491748"/>
                    <a:pt x="0" y="485742"/>
                  </a:cubicBezTo>
                  <a:lnTo>
                    <a:pt x="0" y="10876"/>
                  </a:lnTo>
                  <a:cubicBezTo>
                    <a:pt x="0" y="4869"/>
                    <a:pt x="4869" y="0"/>
                    <a:pt x="10876" y="0"/>
                  </a:cubicBezTo>
                  <a:close/>
                </a:path>
              </a:pathLst>
            </a:custGeom>
            <a:solidFill>
              <a:srgbClr val="1E3A6E">
                <a:alpha val="40000"/>
              </a:srgbClr>
            </a:solidFill>
            <a:ln w="38100" cap="rnd">
              <a:solidFill>
                <a:srgbClr val="22D3EE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28325" cy="544242"/>
            </a:xfrm>
            <a:prstGeom prst="rect">
              <a:avLst/>
            </a:prstGeom>
          </p:spPr>
          <p:txBody>
            <a:bodyPr anchor="ctr" rtlCol="false" tIns="54025" lIns="54025" bIns="54025" rIns="54025"/>
            <a:lstStyle/>
            <a:p>
              <a:pPr algn="ctr">
                <a:lnSpc>
                  <a:spcPts val="319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38232" y="5839311"/>
            <a:ext cx="13084230" cy="3972057"/>
          </a:xfrm>
          <a:custGeom>
            <a:avLst/>
            <a:gdLst/>
            <a:ahLst/>
            <a:cxnLst/>
            <a:rect r="r" b="b" t="t" l="l"/>
            <a:pathLst>
              <a:path h="3972057" w="13084230">
                <a:moveTo>
                  <a:pt x="0" y="0"/>
                </a:moveTo>
                <a:lnTo>
                  <a:pt x="13084230" y="0"/>
                </a:lnTo>
                <a:lnTo>
                  <a:pt x="13084230" y="3972057"/>
                </a:lnTo>
                <a:lnTo>
                  <a:pt x="0" y="397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45214" y="618806"/>
            <a:ext cx="8514086" cy="4975370"/>
            <a:chOff x="0" y="0"/>
            <a:chExt cx="1319055" cy="770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9055" cy="770815"/>
            </a:xfrm>
            <a:custGeom>
              <a:avLst/>
              <a:gdLst/>
              <a:ahLst/>
              <a:cxnLst/>
              <a:rect r="r" b="b" t="t" l="l"/>
              <a:pathLst>
                <a:path h="770815" w="1319055">
                  <a:moveTo>
                    <a:pt x="20914" y="0"/>
                  </a:moveTo>
                  <a:lnTo>
                    <a:pt x="1298141" y="0"/>
                  </a:lnTo>
                  <a:cubicBezTo>
                    <a:pt x="1303687" y="0"/>
                    <a:pt x="1309007" y="2203"/>
                    <a:pt x="1312929" y="6126"/>
                  </a:cubicBezTo>
                  <a:cubicBezTo>
                    <a:pt x="1316851" y="10048"/>
                    <a:pt x="1319055" y="15367"/>
                    <a:pt x="1319055" y="20914"/>
                  </a:cubicBezTo>
                  <a:lnTo>
                    <a:pt x="1319055" y="749901"/>
                  </a:lnTo>
                  <a:cubicBezTo>
                    <a:pt x="1319055" y="755448"/>
                    <a:pt x="1316851" y="760767"/>
                    <a:pt x="1312929" y="764689"/>
                  </a:cubicBezTo>
                  <a:cubicBezTo>
                    <a:pt x="1309007" y="768612"/>
                    <a:pt x="1303687" y="770815"/>
                    <a:pt x="1298141" y="770815"/>
                  </a:cubicBezTo>
                  <a:lnTo>
                    <a:pt x="20914" y="770815"/>
                  </a:lnTo>
                  <a:cubicBezTo>
                    <a:pt x="15367" y="770815"/>
                    <a:pt x="10048" y="768612"/>
                    <a:pt x="6126" y="764689"/>
                  </a:cubicBezTo>
                  <a:cubicBezTo>
                    <a:pt x="2203" y="760767"/>
                    <a:pt x="0" y="755448"/>
                    <a:pt x="0" y="749901"/>
                  </a:cubicBezTo>
                  <a:lnTo>
                    <a:pt x="0" y="20914"/>
                  </a:lnTo>
                  <a:cubicBezTo>
                    <a:pt x="0" y="15367"/>
                    <a:pt x="2203" y="10048"/>
                    <a:pt x="6126" y="6126"/>
                  </a:cubicBezTo>
                  <a:cubicBezTo>
                    <a:pt x="10048" y="2203"/>
                    <a:pt x="15367" y="0"/>
                    <a:pt x="20914" y="0"/>
                  </a:cubicBezTo>
                  <a:close/>
                </a:path>
              </a:pathLst>
            </a:custGeom>
            <a:blipFill>
              <a:blip r:embed="rId3"/>
              <a:stretch>
                <a:fillRect l="-18123" t="0" r="-18123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0858" y="1133475"/>
            <a:ext cx="7764356" cy="187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Interview-Agent</a:t>
            </a:r>
          </a:p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Workfl</a:t>
            </a: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86872" y="519825"/>
            <a:ext cx="3657600" cy="621841"/>
            <a:chOff x="0" y="0"/>
            <a:chExt cx="4876800" cy="829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8232" y="519825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448561"/>
            <a:chOff x="0" y="0"/>
            <a:chExt cx="4504087" cy="2488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88510"/>
            </a:xfrm>
            <a:custGeom>
              <a:avLst/>
              <a:gdLst/>
              <a:ahLst/>
              <a:cxnLst/>
              <a:rect r="r" b="b" t="t" l="l"/>
              <a:pathLst>
                <a:path h="2488510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465422"/>
                  </a:lnTo>
                  <a:cubicBezTo>
                    <a:pt x="4504087" y="2471545"/>
                    <a:pt x="4501655" y="2477418"/>
                    <a:pt x="4497325" y="2481748"/>
                  </a:cubicBezTo>
                  <a:cubicBezTo>
                    <a:pt x="4492996" y="2486078"/>
                    <a:pt x="4487123" y="2488510"/>
                    <a:pt x="4480999" y="2488510"/>
                  </a:cubicBezTo>
                  <a:lnTo>
                    <a:pt x="23088" y="2488510"/>
                  </a:lnTo>
                  <a:cubicBezTo>
                    <a:pt x="16965" y="2488510"/>
                    <a:pt x="11092" y="2486078"/>
                    <a:pt x="6762" y="2481748"/>
                  </a:cubicBezTo>
                  <a:cubicBezTo>
                    <a:pt x="2432" y="2477418"/>
                    <a:pt x="0" y="2471545"/>
                    <a:pt x="0" y="2465422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545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71932" y="1550490"/>
            <a:ext cx="6466034" cy="8307696"/>
            <a:chOff x="0" y="0"/>
            <a:chExt cx="803796" cy="1032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3796" cy="1032734"/>
            </a:xfrm>
            <a:custGeom>
              <a:avLst/>
              <a:gdLst/>
              <a:ahLst/>
              <a:cxnLst/>
              <a:rect r="r" b="b" t="t" l="l"/>
              <a:pathLst>
                <a:path h="1032734" w="803796">
                  <a:moveTo>
                    <a:pt x="23385" y="0"/>
                  </a:moveTo>
                  <a:lnTo>
                    <a:pt x="780411" y="0"/>
                  </a:lnTo>
                  <a:cubicBezTo>
                    <a:pt x="786613" y="0"/>
                    <a:pt x="792561" y="2464"/>
                    <a:pt x="796947" y="6849"/>
                  </a:cubicBezTo>
                  <a:cubicBezTo>
                    <a:pt x="801332" y="11235"/>
                    <a:pt x="803796" y="17183"/>
                    <a:pt x="803796" y="23385"/>
                  </a:cubicBezTo>
                  <a:lnTo>
                    <a:pt x="803796" y="1009348"/>
                  </a:lnTo>
                  <a:cubicBezTo>
                    <a:pt x="803796" y="1022264"/>
                    <a:pt x="793326" y="1032734"/>
                    <a:pt x="780411" y="1032734"/>
                  </a:cubicBezTo>
                  <a:lnTo>
                    <a:pt x="23385" y="1032734"/>
                  </a:lnTo>
                  <a:cubicBezTo>
                    <a:pt x="17183" y="1032734"/>
                    <a:pt x="11235" y="1030270"/>
                    <a:pt x="6849" y="1025884"/>
                  </a:cubicBezTo>
                  <a:cubicBezTo>
                    <a:pt x="2464" y="1021499"/>
                    <a:pt x="0" y="1015551"/>
                    <a:pt x="0" y="1009348"/>
                  </a:cubicBezTo>
                  <a:lnTo>
                    <a:pt x="0" y="23385"/>
                  </a:lnTo>
                  <a:cubicBezTo>
                    <a:pt x="0" y="17183"/>
                    <a:pt x="2464" y="11235"/>
                    <a:pt x="6849" y="6849"/>
                  </a:cubicBezTo>
                  <a:cubicBezTo>
                    <a:pt x="11235" y="2464"/>
                    <a:pt x="17183" y="0"/>
                    <a:pt x="23385" y="0"/>
                  </a:cubicBezTo>
                  <a:close/>
                </a:path>
              </a:pathLst>
            </a:custGeom>
            <a:solidFill>
              <a:srgbClr val="1E3A6E">
                <a:alpha val="40000"/>
              </a:srgbClr>
            </a:solidFill>
            <a:ln w="38100" cap="rnd">
              <a:solidFill>
                <a:srgbClr val="22D3EE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3796" cy="1080359"/>
            </a:xfrm>
            <a:prstGeom prst="rect">
              <a:avLst/>
            </a:prstGeom>
          </p:spPr>
          <p:txBody>
            <a:bodyPr anchor="ctr" rtlCol="false" tIns="54025" lIns="54025" bIns="54025" rIns="54025"/>
            <a:lstStyle/>
            <a:p>
              <a:pPr algn="ctr">
                <a:lnSpc>
                  <a:spcPts val="319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25450" y="1706922"/>
            <a:ext cx="4447533" cy="8151263"/>
          </a:xfrm>
          <a:custGeom>
            <a:avLst/>
            <a:gdLst/>
            <a:ahLst/>
            <a:cxnLst/>
            <a:rect r="r" b="b" t="t" l="l"/>
            <a:pathLst>
              <a:path h="8151263" w="4447533">
                <a:moveTo>
                  <a:pt x="0" y="0"/>
                </a:moveTo>
                <a:lnTo>
                  <a:pt x="4447533" y="0"/>
                </a:lnTo>
                <a:lnTo>
                  <a:pt x="4447533" y="8151264"/>
                </a:lnTo>
                <a:lnTo>
                  <a:pt x="0" y="8151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1745" y="600710"/>
            <a:ext cx="12737721" cy="9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9"/>
              </a:lnSpc>
            </a:pP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Resume-Agent Workfl</a:t>
            </a:r>
            <a:r>
              <a:rPr lang="en-US" sz="6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ow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07270" y="1550490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60" y="0"/>
                </a:lnTo>
                <a:lnTo>
                  <a:pt x="8361460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1706922"/>
            <a:ext cx="3657600" cy="621841"/>
            <a:chOff x="0" y="0"/>
            <a:chExt cx="4876800" cy="829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706922"/>
            <a:ext cx="548640" cy="548640"/>
            <a:chOff x="0" y="0"/>
            <a:chExt cx="7315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6472" y="2337843"/>
            <a:ext cx="4681144" cy="2412518"/>
            <a:chOff x="0" y="0"/>
            <a:chExt cx="6590729" cy="33966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90635" cy="3396583"/>
            </a:xfrm>
            <a:custGeom>
              <a:avLst/>
              <a:gdLst/>
              <a:ahLst/>
              <a:cxnLst/>
              <a:rect r="r" b="b" t="t" l="l"/>
              <a:pathLst>
                <a:path h="3396583" w="6590635">
                  <a:moveTo>
                    <a:pt x="0" y="169796"/>
                  </a:moveTo>
                  <a:cubicBezTo>
                    <a:pt x="0" y="76074"/>
                    <a:pt x="92916" y="0"/>
                    <a:pt x="207388" y="0"/>
                  </a:cubicBezTo>
                  <a:lnTo>
                    <a:pt x="6383247" y="0"/>
                  </a:lnTo>
                  <a:cubicBezTo>
                    <a:pt x="6497853" y="0"/>
                    <a:pt x="6590635" y="76074"/>
                    <a:pt x="6590635" y="169796"/>
                  </a:cubicBezTo>
                  <a:lnTo>
                    <a:pt x="6590635" y="3226786"/>
                  </a:lnTo>
                  <a:cubicBezTo>
                    <a:pt x="6590635" y="3320618"/>
                    <a:pt x="6497719" y="3396583"/>
                    <a:pt x="6383247" y="3396583"/>
                  </a:cubicBezTo>
                  <a:lnTo>
                    <a:pt x="207388" y="3396583"/>
                  </a:lnTo>
                  <a:cubicBezTo>
                    <a:pt x="92916" y="3396697"/>
                    <a:pt x="0" y="3320618"/>
                    <a:pt x="0" y="3226786"/>
                  </a:cubicBezTo>
                  <a:close/>
                </a:path>
              </a:pathLst>
            </a:custGeom>
            <a:solidFill>
              <a:srgbClr val="0B1A3A"/>
            </a:solidFill>
            <a:ln w="25400" cap="sq">
              <a:solidFill>
                <a:srgbClr val="1E3A6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46472" y="5573992"/>
            <a:ext cx="4681144" cy="2458656"/>
            <a:chOff x="0" y="0"/>
            <a:chExt cx="6590729" cy="3461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0635" cy="3461541"/>
            </a:xfrm>
            <a:custGeom>
              <a:avLst/>
              <a:gdLst/>
              <a:ahLst/>
              <a:cxnLst/>
              <a:rect r="r" b="b" t="t" l="l"/>
              <a:pathLst>
                <a:path h="3461541" w="6590635">
                  <a:moveTo>
                    <a:pt x="0" y="173044"/>
                  </a:moveTo>
                  <a:cubicBezTo>
                    <a:pt x="0" y="77529"/>
                    <a:pt x="92916" y="0"/>
                    <a:pt x="207388" y="0"/>
                  </a:cubicBezTo>
                  <a:lnTo>
                    <a:pt x="6383247" y="0"/>
                  </a:lnTo>
                  <a:cubicBezTo>
                    <a:pt x="6497853" y="0"/>
                    <a:pt x="6590635" y="77529"/>
                    <a:pt x="6590635" y="173044"/>
                  </a:cubicBezTo>
                  <a:lnTo>
                    <a:pt x="6590635" y="3288497"/>
                  </a:lnTo>
                  <a:cubicBezTo>
                    <a:pt x="6590635" y="3384124"/>
                    <a:pt x="6497719" y="3461541"/>
                    <a:pt x="6383247" y="3461541"/>
                  </a:cubicBezTo>
                  <a:lnTo>
                    <a:pt x="207388" y="3461541"/>
                  </a:lnTo>
                  <a:cubicBezTo>
                    <a:pt x="92916" y="3461657"/>
                    <a:pt x="0" y="3384124"/>
                    <a:pt x="0" y="3288497"/>
                  </a:cubicBezTo>
                  <a:close/>
                </a:path>
              </a:pathLst>
            </a:custGeom>
            <a:solidFill>
              <a:srgbClr val="0B1A3A"/>
            </a:solidFill>
            <a:ln w="25400" cap="sq">
              <a:solidFill>
                <a:srgbClr val="1E3A6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65224" y="8612384"/>
            <a:ext cx="15957562" cy="890009"/>
            <a:chOff x="0" y="0"/>
            <a:chExt cx="22467151" cy="1253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90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467190">
                  <a:moveTo>
                    <a:pt x="0" y="200533"/>
                  </a:moveTo>
                  <a:cubicBezTo>
                    <a:pt x="0" y="89789"/>
                    <a:pt x="89789" y="0"/>
                    <a:pt x="200533" y="0"/>
                  </a:cubicBezTo>
                  <a:lnTo>
                    <a:pt x="22266656" y="0"/>
                  </a:lnTo>
                  <a:cubicBezTo>
                    <a:pt x="22377400" y="0"/>
                    <a:pt x="22467190" y="89789"/>
                    <a:pt x="22467190" y="200533"/>
                  </a:cubicBezTo>
                  <a:lnTo>
                    <a:pt x="22467190" y="1052576"/>
                  </a:lnTo>
                  <a:cubicBezTo>
                    <a:pt x="22467190" y="1163320"/>
                    <a:pt x="22377400" y="1253109"/>
                    <a:pt x="22266656" y="1253109"/>
                  </a:cubicBezTo>
                  <a:lnTo>
                    <a:pt x="200533" y="1253109"/>
                  </a:lnTo>
                  <a:cubicBezTo>
                    <a:pt x="89789" y="1253109"/>
                    <a:pt x="0" y="1163320"/>
                    <a:pt x="0" y="1052576"/>
                  </a:cubicBezTo>
                  <a:close/>
                </a:path>
              </a:pathLst>
            </a:custGeom>
            <a:solidFill>
              <a:srgbClr val="0B1A3A"/>
            </a:solidFill>
            <a:ln w="25400" cap="sq">
              <a:solidFill>
                <a:srgbClr val="1E3A6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37033" y="8624408"/>
            <a:ext cx="2597854" cy="865951"/>
            <a:chOff x="0" y="0"/>
            <a:chExt cx="36576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657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Intended Outcomes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67863" y="8884194"/>
            <a:ext cx="346381" cy="346381"/>
            <a:chOff x="0" y="0"/>
            <a:chExt cx="487680" cy="4876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952796" y="8624408"/>
            <a:ext cx="3810186" cy="865951"/>
            <a:chOff x="0" y="0"/>
            <a:chExt cx="53644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Faster time to actionable pathway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43161" y="8884194"/>
            <a:ext cx="346381" cy="346381"/>
            <a:chOff x="0" y="0"/>
            <a:chExt cx="487680" cy="48768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490381" y="8624408"/>
            <a:ext cx="3810186" cy="865951"/>
            <a:chOff x="0" y="0"/>
            <a:chExt cx="536448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More skills gaps identified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54186" y="8884194"/>
            <a:ext cx="346381" cy="346381"/>
            <a:chOff x="0" y="0"/>
            <a:chExt cx="487680" cy="48768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439119" y="8624408"/>
            <a:ext cx="3810186" cy="865951"/>
            <a:chOff x="0" y="0"/>
            <a:chExt cx="536448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36448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Higher pathway completion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8833" y="2337843"/>
            <a:ext cx="2458656" cy="245865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2423" y="0"/>
                  </a:moveTo>
                  <a:lnTo>
                    <a:pt x="740377" y="0"/>
                  </a:lnTo>
                  <a:cubicBezTo>
                    <a:pt x="780375" y="0"/>
                    <a:pt x="812800" y="32425"/>
                    <a:pt x="812800" y="72423"/>
                  </a:cubicBezTo>
                  <a:lnTo>
                    <a:pt x="812800" y="740377"/>
                  </a:lnTo>
                  <a:cubicBezTo>
                    <a:pt x="812800" y="780375"/>
                    <a:pt x="780375" y="812800"/>
                    <a:pt x="740377" y="812800"/>
                  </a:cubicBezTo>
                  <a:lnTo>
                    <a:pt x="72423" y="812800"/>
                  </a:lnTo>
                  <a:cubicBezTo>
                    <a:pt x="32425" y="812800"/>
                    <a:pt x="0" y="780375"/>
                    <a:pt x="0" y="740377"/>
                  </a:cubicBezTo>
                  <a:lnTo>
                    <a:pt x="0" y="72423"/>
                  </a:lnTo>
                  <a:cubicBezTo>
                    <a:pt x="0" y="32425"/>
                    <a:pt x="32425" y="0"/>
                    <a:pt x="7242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88833" y="5573992"/>
            <a:ext cx="2458656" cy="245865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2423" y="0"/>
                  </a:moveTo>
                  <a:lnTo>
                    <a:pt x="740377" y="0"/>
                  </a:lnTo>
                  <a:cubicBezTo>
                    <a:pt x="780375" y="0"/>
                    <a:pt x="812800" y="32425"/>
                    <a:pt x="812800" y="72423"/>
                  </a:cubicBezTo>
                  <a:lnTo>
                    <a:pt x="812800" y="740377"/>
                  </a:lnTo>
                  <a:cubicBezTo>
                    <a:pt x="812800" y="780375"/>
                    <a:pt x="780375" y="812800"/>
                    <a:pt x="740377" y="812800"/>
                  </a:cubicBezTo>
                  <a:lnTo>
                    <a:pt x="72423" y="812800"/>
                  </a:lnTo>
                  <a:cubicBezTo>
                    <a:pt x="32425" y="812800"/>
                    <a:pt x="0" y="780375"/>
                    <a:pt x="0" y="740377"/>
                  </a:cubicBezTo>
                  <a:lnTo>
                    <a:pt x="0" y="72423"/>
                  </a:lnTo>
                  <a:cubicBezTo>
                    <a:pt x="0" y="32425"/>
                    <a:pt x="32425" y="0"/>
                    <a:pt x="7242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043161" y="2281602"/>
            <a:ext cx="2458656" cy="245865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2423" y="0"/>
                  </a:moveTo>
                  <a:lnTo>
                    <a:pt x="740377" y="0"/>
                  </a:lnTo>
                  <a:cubicBezTo>
                    <a:pt x="780375" y="0"/>
                    <a:pt x="812800" y="32425"/>
                    <a:pt x="812800" y="72423"/>
                  </a:cubicBezTo>
                  <a:lnTo>
                    <a:pt x="812800" y="740377"/>
                  </a:lnTo>
                  <a:cubicBezTo>
                    <a:pt x="812800" y="780375"/>
                    <a:pt x="780375" y="812800"/>
                    <a:pt x="740377" y="812800"/>
                  </a:cubicBezTo>
                  <a:lnTo>
                    <a:pt x="72423" y="812800"/>
                  </a:lnTo>
                  <a:cubicBezTo>
                    <a:pt x="32425" y="812800"/>
                    <a:pt x="0" y="780375"/>
                    <a:pt x="0" y="740377"/>
                  </a:cubicBezTo>
                  <a:lnTo>
                    <a:pt x="0" y="72423"/>
                  </a:lnTo>
                  <a:cubicBezTo>
                    <a:pt x="0" y="32425"/>
                    <a:pt x="32425" y="0"/>
                    <a:pt x="7242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4095356" y="2645056"/>
            <a:ext cx="3983376" cy="33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SDG 4 – Quality Education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27411" y="3128148"/>
            <a:ext cx="4358819" cy="127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Lifelong learning opportunities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More accessible, inclusive training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Build future-ready skills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95356" y="5746493"/>
            <a:ext cx="3927213" cy="65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SDG 8 – Decent Work &amp; Economic Growth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46472" y="6549807"/>
            <a:ext cx="4439758" cy="95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Higher employability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Stronger workforce productivity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Fairer transition to new jobs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26287" y="5522575"/>
            <a:ext cx="5272880" cy="2458656"/>
            <a:chOff x="0" y="0"/>
            <a:chExt cx="7423854" cy="34616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23748" cy="3461541"/>
            </a:xfrm>
            <a:custGeom>
              <a:avLst/>
              <a:gdLst/>
              <a:ahLst/>
              <a:cxnLst/>
              <a:rect r="r" b="b" t="t" l="l"/>
              <a:pathLst>
                <a:path h="3461541" w="7423748">
                  <a:moveTo>
                    <a:pt x="0" y="173044"/>
                  </a:moveTo>
                  <a:cubicBezTo>
                    <a:pt x="0" y="77529"/>
                    <a:pt x="104662" y="0"/>
                    <a:pt x="233604" y="0"/>
                  </a:cubicBezTo>
                  <a:lnTo>
                    <a:pt x="7190144" y="0"/>
                  </a:lnTo>
                  <a:cubicBezTo>
                    <a:pt x="7319237" y="0"/>
                    <a:pt x="7423748" y="77529"/>
                    <a:pt x="7423748" y="173044"/>
                  </a:cubicBezTo>
                  <a:lnTo>
                    <a:pt x="7423748" y="3288497"/>
                  </a:lnTo>
                  <a:cubicBezTo>
                    <a:pt x="7423748" y="3384124"/>
                    <a:pt x="7319086" y="3461541"/>
                    <a:pt x="7190144" y="3461541"/>
                  </a:cubicBezTo>
                  <a:lnTo>
                    <a:pt x="233604" y="3461541"/>
                  </a:lnTo>
                  <a:cubicBezTo>
                    <a:pt x="104662" y="3461657"/>
                    <a:pt x="0" y="3384124"/>
                    <a:pt x="0" y="3288497"/>
                  </a:cubicBezTo>
                  <a:close/>
                </a:path>
              </a:pathLst>
            </a:custGeom>
            <a:solidFill>
              <a:srgbClr val="0B1A3A"/>
            </a:solidFill>
            <a:ln w="25400" cap="sq">
              <a:solidFill>
                <a:srgbClr val="1E3A6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61881" y="5522575"/>
            <a:ext cx="2458656" cy="245865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2423" y="0"/>
                  </a:moveTo>
                  <a:lnTo>
                    <a:pt x="740377" y="0"/>
                  </a:lnTo>
                  <a:cubicBezTo>
                    <a:pt x="780375" y="0"/>
                    <a:pt x="812800" y="32425"/>
                    <a:pt x="812800" y="72423"/>
                  </a:cubicBezTo>
                  <a:lnTo>
                    <a:pt x="812800" y="740377"/>
                  </a:lnTo>
                  <a:cubicBezTo>
                    <a:pt x="812800" y="780375"/>
                    <a:pt x="780375" y="812800"/>
                    <a:pt x="740377" y="812800"/>
                  </a:cubicBezTo>
                  <a:lnTo>
                    <a:pt x="72423" y="812800"/>
                  </a:lnTo>
                  <a:cubicBezTo>
                    <a:pt x="32425" y="812800"/>
                    <a:pt x="0" y="780375"/>
                    <a:pt x="0" y="740377"/>
                  </a:cubicBezTo>
                  <a:lnTo>
                    <a:pt x="0" y="72423"/>
                  </a:lnTo>
                  <a:cubicBezTo>
                    <a:pt x="0" y="32425"/>
                    <a:pt x="32425" y="0"/>
                    <a:pt x="724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979895" y="2260529"/>
            <a:ext cx="5419272" cy="2458656"/>
            <a:chOff x="0" y="0"/>
            <a:chExt cx="7629963" cy="34616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9854" cy="3461541"/>
            </a:xfrm>
            <a:custGeom>
              <a:avLst/>
              <a:gdLst/>
              <a:ahLst/>
              <a:cxnLst/>
              <a:rect r="r" b="b" t="t" l="l"/>
              <a:pathLst>
                <a:path h="3461541" w="7629854">
                  <a:moveTo>
                    <a:pt x="0" y="173044"/>
                  </a:moveTo>
                  <a:cubicBezTo>
                    <a:pt x="0" y="77529"/>
                    <a:pt x="107568" y="0"/>
                    <a:pt x="240089" y="0"/>
                  </a:cubicBezTo>
                  <a:lnTo>
                    <a:pt x="7389765" y="0"/>
                  </a:lnTo>
                  <a:cubicBezTo>
                    <a:pt x="7522442" y="0"/>
                    <a:pt x="7629854" y="77529"/>
                    <a:pt x="7629854" y="173044"/>
                  </a:cubicBezTo>
                  <a:lnTo>
                    <a:pt x="7629854" y="3288497"/>
                  </a:lnTo>
                  <a:cubicBezTo>
                    <a:pt x="7629854" y="3384124"/>
                    <a:pt x="7522287" y="3461541"/>
                    <a:pt x="7389765" y="3461541"/>
                  </a:cubicBezTo>
                  <a:lnTo>
                    <a:pt x="240089" y="3461541"/>
                  </a:lnTo>
                  <a:cubicBezTo>
                    <a:pt x="107568" y="3461657"/>
                    <a:pt x="0" y="3384124"/>
                    <a:pt x="0" y="3288497"/>
                  </a:cubicBezTo>
                  <a:close/>
                </a:path>
              </a:pathLst>
            </a:custGeom>
            <a:solidFill>
              <a:srgbClr val="0B1A3A"/>
            </a:solidFill>
            <a:ln w="25400" cap="sq">
              <a:solidFill>
                <a:srgbClr val="1E3A6E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2505266" y="2487200"/>
            <a:ext cx="3983376" cy="65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SDG 3 – Good Health &amp; Well-being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15200" y="3262356"/>
            <a:ext cx="5020388" cy="127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Growth </a:t>
            </a: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in health-tech and digital health roles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Less career anxiety through clearer, data-backed guidance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96286" y="5746493"/>
            <a:ext cx="3983376" cy="65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SDG 9 – Industry, Innovation &amp; Infrastructure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52533" y="6522746"/>
            <a:ext cx="5020388" cy="127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812" indent="-224906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Skills pathways aligned with emerging technologies</a:t>
            </a:r>
          </a:p>
          <a:p>
            <a:pPr algn="l" marL="502731" indent="-251365" lvl="1">
              <a:lnSpc>
                <a:spcPts val="2500"/>
              </a:lnSpc>
              <a:buFont typeface="Arial"/>
              <a:buChar char="•"/>
            </a:pPr>
            <a:r>
              <a:rPr lang="en-US" sz="2083">
                <a:solidFill>
                  <a:srgbClr val="A8B8D8"/>
                </a:solidFill>
                <a:latin typeface="Roboto"/>
                <a:ea typeface="Roboto"/>
                <a:cs typeface="Roboto"/>
                <a:sym typeface="Roboto"/>
              </a:rPr>
              <a:t>Better planning for employers adopting AI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1011483"/>
            <a:ext cx="6454738" cy="108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000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SDG Impact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297806" y="1182211"/>
            <a:ext cx="3657600" cy="621841"/>
            <a:chOff x="0" y="0"/>
            <a:chExt cx="4876800" cy="8291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49166" y="1182211"/>
            <a:ext cx="548640" cy="548640"/>
            <a:chOff x="0" y="0"/>
            <a:chExt cx="7315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4242" y="962210"/>
            <a:ext cx="8361459" cy="7985194"/>
          </a:xfrm>
          <a:custGeom>
            <a:avLst/>
            <a:gdLst/>
            <a:ahLst/>
            <a:cxnLst/>
            <a:rect r="r" b="b" t="t" l="l"/>
            <a:pathLst>
              <a:path h="7985194" w="8361459">
                <a:moveTo>
                  <a:pt x="0" y="0"/>
                </a:moveTo>
                <a:lnTo>
                  <a:pt x="8361459" y="0"/>
                </a:lnTo>
                <a:lnTo>
                  <a:pt x="8361459" y="7985194"/>
                </a:lnTo>
                <a:lnTo>
                  <a:pt x="0" y="7985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1769" y="8660728"/>
            <a:ext cx="633862" cy="597572"/>
          </a:xfrm>
          <a:custGeom>
            <a:avLst/>
            <a:gdLst/>
            <a:ahLst/>
            <a:cxnLst/>
            <a:rect r="r" b="b" t="t" l="l"/>
            <a:pathLst>
              <a:path h="597572" w="633862">
                <a:moveTo>
                  <a:pt x="0" y="0"/>
                </a:moveTo>
                <a:lnTo>
                  <a:pt x="633862" y="0"/>
                </a:lnTo>
                <a:lnTo>
                  <a:pt x="633862" y="597572"/>
                </a:lnTo>
                <a:lnTo>
                  <a:pt x="0" y="597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8629" y="8735197"/>
            <a:ext cx="2306619" cy="42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  <a:r>
              <a:rPr lang="en-US" sz="271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Aiverse</a:t>
            </a:r>
            <a:r>
              <a:rPr lang="en-US" sz="2713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Pulse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3920" y="5961321"/>
            <a:ext cx="73152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AiversePulse</a:t>
            </a:r>
            <a:r>
              <a:rPr lang="en-US" sz="2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— Human-centred AI. Personalised career pathways. Real-world impact.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3920" y="4115782"/>
            <a:ext cx="1202154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50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Don't just react to the future of work.</a:t>
            </a:r>
          </a:p>
          <a:p>
            <a:pPr algn="l">
              <a:lnSpc>
                <a:spcPts val="6119"/>
              </a:lnSpc>
            </a:pPr>
            <a:r>
              <a:rPr lang="en-US" sz="5099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Prepare for it.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271" y="566057"/>
            <a:ext cx="17101457" cy="9154886"/>
            <a:chOff x="0" y="0"/>
            <a:chExt cx="4504087" cy="241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087" cy="2411163"/>
            </a:xfrm>
            <a:custGeom>
              <a:avLst/>
              <a:gdLst/>
              <a:ahLst/>
              <a:cxnLst/>
              <a:rect r="r" b="b" t="t" l="l"/>
              <a:pathLst>
                <a:path h="2411163" w="4504087">
                  <a:moveTo>
                    <a:pt x="23088" y="0"/>
                  </a:moveTo>
                  <a:lnTo>
                    <a:pt x="4480999" y="0"/>
                  </a:lnTo>
                  <a:cubicBezTo>
                    <a:pt x="4493751" y="0"/>
                    <a:pt x="4504087" y="10337"/>
                    <a:pt x="4504087" y="23088"/>
                  </a:cubicBezTo>
                  <a:lnTo>
                    <a:pt x="4504087" y="2388075"/>
                  </a:lnTo>
                  <a:cubicBezTo>
                    <a:pt x="4504087" y="2394199"/>
                    <a:pt x="4501655" y="2400071"/>
                    <a:pt x="4497325" y="2404401"/>
                  </a:cubicBezTo>
                  <a:cubicBezTo>
                    <a:pt x="4492996" y="2408731"/>
                    <a:pt x="4487123" y="2411163"/>
                    <a:pt x="4480999" y="2411163"/>
                  </a:cubicBezTo>
                  <a:lnTo>
                    <a:pt x="23088" y="2411163"/>
                  </a:lnTo>
                  <a:cubicBezTo>
                    <a:pt x="10337" y="2411163"/>
                    <a:pt x="0" y="2400827"/>
                    <a:pt x="0" y="2388075"/>
                  </a:cubicBezTo>
                  <a:lnTo>
                    <a:pt x="0" y="23088"/>
                  </a:lnTo>
                  <a:cubicBezTo>
                    <a:pt x="0" y="16965"/>
                    <a:pt x="2432" y="11092"/>
                    <a:pt x="6762" y="6762"/>
                  </a:cubicBezTo>
                  <a:cubicBezTo>
                    <a:pt x="11092" y="2432"/>
                    <a:pt x="16965" y="0"/>
                    <a:pt x="23088" y="0"/>
                  </a:cubicBezTo>
                  <a:close/>
                </a:path>
              </a:pathLst>
            </a:custGeom>
            <a:ln w="57150" cap="rnd">
              <a:solidFill>
                <a:srgbClr val="D4038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04087" cy="2468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3897086"/>
            <a:chOff x="0" y="0"/>
            <a:chExt cx="2514545" cy="6037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4545" cy="603761"/>
            </a:xfrm>
            <a:custGeom>
              <a:avLst/>
              <a:gdLst/>
              <a:ahLst/>
              <a:cxnLst/>
              <a:rect r="r" b="b" t="t" l="l"/>
              <a:pathLst>
                <a:path h="603761" w="2514545">
                  <a:moveTo>
                    <a:pt x="10971" y="0"/>
                  </a:moveTo>
                  <a:lnTo>
                    <a:pt x="2503574" y="0"/>
                  </a:lnTo>
                  <a:cubicBezTo>
                    <a:pt x="2509633" y="0"/>
                    <a:pt x="2514545" y="4912"/>
                    <a:pt x="2514545" y="10971"/>
                  </a:cubicBezTo>
                  <a:lnTo>
                    <a:pt x="2514545" y="592790"/>
                  </a:lnTo>
                  <a:cubicBezTo>
                    <a:pt x="2514545" y="598849"/>
                    <a:pt x="2509633" y="603761"/>
                    <a:pt x="2503574" y="603761"/>
                  </a:cubicBezTo>
                  <a:lnTo>
                    <a:pt x="10971" y="603761"/>
                  </a:lnTo>
                  <a:cubicBezTo>
                    <a:pt x="4912" y="603761"/>
                    <a:pt x="0" y="598849"/>
                    <a:pt x="0" y="592790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7371" r="0" b="-67371"/>
              </a:stretch>
            </a:blipFill>
            <a:ln w="38100" cap="rnd">
              <a:solidFill>
                <a:srgbClr val="D40383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123130" y="6058657"/>
            <a:ext cx="10041740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true">
                <a:solidFill>
                  <a:srgbClr val="FFFBF7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34006" y="8495884"/>
            <a:ext cx="3657600" cy="621841"/>
            <a:chOff x="0" y="0"/>
            <a:chExt cx="4876800" cy="829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829121"/>
            </a:xfrm>
            <a:custGeom>
              <a:avLst/>
              <a:gdLst/>
              <a:ahLst/>
              <a:cxnLst/>
              <a:rect r="r" b="b" t="t" l="l"/>
              <a:pathLst>
                <a:path h="8291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2" r="0" b="-646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8768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Aiverse</a:t>
              </a: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5366" y="8495884"/>
            <a:ext cx="548640" cy="548640"/>
            <a:chOff x="0" y="0"/>
            <a:chExt cx="73152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36" t="0" r="-303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DAHYv8YUIow</dc:identifier>
  <dcterms:modified xsi:type="dcterms:W3CDTF">2011-08-01T06:04:30Z</dcterms:modified>
  <cp:revision>1</cp:revision>
  <dc:title>Hackathon-SDC26-PitchDeck</dc:title>
</cp:coreProperties>
</file>